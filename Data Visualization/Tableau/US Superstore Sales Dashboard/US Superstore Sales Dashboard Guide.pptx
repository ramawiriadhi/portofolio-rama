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8" r:id="rId3"/>
    <p:sldId id="257" r:id="rId4"/>
    <p:sldId id="259" r:id="rId5"/>
    <p:sldId id="267" r:id="rId6"/>
    <p:sldId id="262" r:id="rId7"/>
    <p:sldId id="263" r:id="rId8"/>
    <p:sldId id="264" r:id="rId9"/>
    <p:sldId id="265" r:id="rId10"/>
    <p:sldId id="266"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5F5"/>
    <a:srgbClr val="FF55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p:scale>
          <a:sx n="50" d="100"/>
          <a:sy n="50" d="100"/>
        </p:scale>
        <p:origin x="1284" y="5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Judul">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id-ID"/>
              <a:t>Klik untuk mengedit gaya judul Master</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Klik untuk mengedit gaya subjudul Master</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C0E26CBB-FD62-4F63-B982-40F58B1D5EF2}" type="datetimeFigureOut">
              <a:rPr lang="id-ID" smtClean="0"/>
              <a:t>24/10/2024</a:t>
            </a:fld>
            <a:endParaRPr lang="id-ID"/>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id-ID"/>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C08BEC80-8C65-4C9B-81F5-03A829D35C2F}" type="slidenum">
              <a:rPr lang="id-ID" smtClean="0"/>
              <a:t>‹#›</a:t>
            </a:fld>
            <a:endParaRPr lang="id-ID"/>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42584342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Content Placeholder 2"/>
          <p:cNvSpPr>
            <a:spLocks noGrp="1"/>
          </p:cNvSpPr>
          <p:nvPr>
            <p:ph idx="1"/>
          </p:nvPr>
        </p:nvSpPr>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C0E26CBB-FD62-4F63-B982-40F58B1D5EF2}" type="datetimeFigureOut">
              <a:rPr lang="id-ID" smtClean="0"/>
              <a:t>24/10/2024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C08BEC80-8C65-4C9B-81F5-03A829D35C2F}" type="slidenum">
              <a:rPr lang="id-ID" smtClean="0"/>
              <a:t>‹#›</a:t>
            </a:fld>
            <a:endParaRPr lang="id-ID"/>
          </a:p>
        </p:txBody>
      </p:sp>
    </p:spTree>
    <p:extLst>
      <p:ext uri="{BB962C8B-B14F-4D97-AF65-F5344CB8AC3E}">
        <p14:creationId xmlns:p14="http://schemas.microsoft.com/office/powerpoint/2010/main" val="37804121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Header Bagia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id-ID"/>
              <a:t>Klik untuk mengedit gaya judul Master</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d-ID"/>
              <a:t>Klik untuk edit gaya teks Master</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0E26CBB-FD62-4F63-B982-40F58B1D5EF2}" type="datetimeFigureOut">
              <a:rPr lang="id-ID" smtClean="0"/>
              <a:t>24/10/2024</a:t>
            </a:fld>
            <a:endParaRPr lang="id-ID"/>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id-ID"/>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C08BEC80-8C65-4C9B-81F5-03A829D35C2F}" type="slidenum">
              <a:rPr lang="id-ID" smtClean="0"/>
              <a:t>‹#›</a:t>
            </a:fld>
            <a:endParaRPr lang="id-ID"/>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904443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 Kont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id-ID"/>
              <a:t>Klik untuk mengedit gaya judul Master</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5" name="Date Placeholder 4"/>
          <p:cNvSpPr>
            <a:spLocks noGrp="1"/>
          </p:cNvSpPr>
          <p:nvPr>
            <p:ph type="dt" sz="half" idx="10"/>
          </p:nvPr>
        </p:nvSpPr>
        <p:spPr/>
        <p:txBody>
          <a:bodyPr/>
          <a:lstStyle/>
          <a:p>
            <a:fld id="{C0E26CBB-FD62-4F63-B982-40F58B1D5EF2}" type="datetimeFigureOut">
              <a:rPr lang="id-ID" smtClean="0"/>
              <a:t>24/10/2024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C08BEC80-8C65-4C9B-81F5-03A829D35C2F}" type="slidenum">
              <a:rPr lang="id-ID" smtClean="0"/>
              <a:t>‹#›</a:t>
            </a:fld>
            <a:endParaRPr lang="id-ID"/>
          </a:p>
        </p:txBody>
      </p:sp>
    </p:spTree>
    <p:extLst>
      <p:ext uri="{BB962C8B-B14F-4D97-AF65-F5344CB8AC3E}">
        <p14:creationId xmlns:p14="http://schemas.microsoft.com/office/powerpoint/2010/main" val="19590506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erbandinga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id-ID"/>
              <a:t>Klik untuk mengedit gaya judul Master</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d-ID"/>
              <a:t>Klik untuk edit gaya teks Master</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d-ID"/>
              <a:t>Klik untuk edit gaya teks Master</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7" name="Date Placeholder 6"/>
          <p:cNvSpPr>
            <a:spLocks noGrp="1"/>
          </p:cNvSpPr>
          <p:nvPr>
            <p:ph type="dt" sz="half" idx="10"/>
          </p:nvPr>
        </p:nvSpPr>
        <p:spPr/>
        <p:txBody>
          <a:bodyPr/>
          <a:lstStyle/>
          <a:p>
            <a:fld id="{C0E26CBB-FD62-4F63-B982-40F58B1D5EF2}" type="datetimeFigureOut">
              <a:rPr lang="id-ID" smtClean="0"/>
              <a:t>24/10/2024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C08BEC80-8C65-4C9B-81F5-03A829D35C2F}" type="slidenum">
              <a:rPr lang="id-ID" smtClean="0"/>
              <a:t>‹#›</a:t>
            </a:fld>
            <a:endParaRPr lang="id-ID"/>
          </a:p>
        </p:txBody>
      </p:sp>
    </p:spTree>
    <p:extLst>
      <p:ext uri="{BB962C8B-B14F-4D97-AF65-F5344CB8AC3E}">
        <p14:creationId xmlns:p14="http://schemas.microsoft.com/office/powerpoint/2010/main" val="2421569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udul Saj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Date Placeholder 2"/>
          <p:cNvSpPr>
            <a:spLocks noGrp="1"/>
          </p:cNvSpPr>
          <p:nvPr>
            <p:ph type="dt" sz="half" idx="10"/>
          </p:nvPr>
        </p:nvSpPr>
        <p:spPr/>
        <p:txBody>
          <a:bodyPr/>
          <a:lstStyle/>
          <a:p>
            <a:fld id="{C0E26CBB-FD62-4F63-B982-40F58B1D5EF2}" type="datetimeFigureOut">
              <a:rPr lang="id-ID" smtClean="0"/>
              <a:t>24/10/2024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C08BEC80-8C65-4C9B-81F5-03A829D35C2F}" type="slidenum">
              <a:rPr lang="id-ID" smtClean="0"/>
              <a:t>‹#›</a:t>
            </a:fld>
            <a:endParaRPr lang="id-ID"/>
          </a:p>
        </p:txBody>
      </p:sp>
    </p:spTree>
    <p:extLst>
      <p:ext uri="{BB962C8B-B14F-4D97-AF65-F5344CB8AC3E}">
        <p14:creationId xmlns:p14="http://schemas.microsoft.com/office/powerpoint/2010/main" val="4795675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so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E26CBB-FD62-4F63-B982-40F58B1D5EF2}" type="datetimeFigureOut">
              <a:rPr lang="id-ID" smtClean="0"/>
              <a:t>24/10/2024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C08BEC80-8C65-4C9B-81F5-03A829D35C2F}" type="slidenum">
              <a:rPr lang="id-ID" smtClean="0"/>
              <a:t>‹#›</a:t>
            </a:fld>
            <a:endParaRPr lang="id-ID"/>
          </a:p>
        </p:txBody>
      </p:sp>
    </p:spTree>
    <p:extLst>
      <p:ext uri="{BB962C8B-B14F-4D97-AF65-F5344CB8AC3E}">
        <p14:creationId xmlns:p14="http://schemas.microsoft.com/office/powerpoint/2010/main" val="9970651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Konten dengan Keteranga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id-ID"/>
              <a:t>Klik untuk mengedit gaya judul Master</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d-ID"/>
              <a:t>Klik untuk edit gaya teks Master</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0E26CBB-FD62-4F63-B982-40F58B1D5EF2}" type="datetimeFigureOut">
              <a:rPr lang="id-ID" smtClean="0"/>
              <a:t>24/10/2024</a:t>
            </a:fld>
            <a:endParaRPr lang="id-ID"/>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id-ID"/>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08BEC80-8C65-4C9B-81F5-03A829D35C2F}" type="slidenum">
              <a:rPr lang="id-ID" smtClean="0"/>
              <a:t>‹#›</a:t>
            </a:fld>
            <a:endParaRPr lang="id-ID"/>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175567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Gambar dengan Keteranga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id-ID"/>
              <a:t>Klik untuk mengedit gaya judul Master</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d-ID"/>
              <a:t>Klik ikon untuk menambahkan gambar</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d-ID"/>
              <a:t>Klik untuk edit gaya teks Master</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0E26CBB-FD62-4F63-B982-40F58B1D5EF2}" type="datetimeFigureOut">
              <a:rPr lang="id-ID" smtClean="0"/>
              <a:t>24/10/2024</a:t>
            </a:fld>
            <a:endParaRPr lang="id-ID"/>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id-ID"/>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08BEC80-8C65-4C9B-81F5-03A829D35C2F}" type="slidenum">
              <a:rPr lang="id-ID" smtClean="0"/>
              <a:t>‹#›</a:t>
            </a:fld>
            <a:endParaRPr lang="id-ID"/>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008824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Judul dan Teks Vertik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C0E26CBB-FD62-4F63-B982-40F58B1D5EF2}" type="datetimeFigureOut">
              <a:rPr lang="id-ID" smtClean="0"/>
              <a:t>24/10/2024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C08BEC80-8C65-4C9B-81F5-03A829D35C2F}" type="slidenum">
              <a:rPr lang="id-ID" smtClean="0"/>
              <a:t>‹#›</a:t>
            </a:fld>
            <a:endParaRPr lang="id-ID"/>
          </a:p>
        </p:txBody>
      </p:sp>
    </p:spTree>
    <p:extLst>
      <p:ext uri="{BB962C8B-B14F-4D97-AF65-F5344CB8AC3E}">
        <p14:creationId xmlns:p14="http://schemas.microsoft.com/office/powerpoint/2010/main" val="15254615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Judul Vertikal dan Tek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id-ID"/>
              <a:t>Klik untuk mengedit gaya judul Master</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C0E26CBB-FD62-4F63-B982-40F58B1D5EF2}" type="datetimeFigureOut">
              <a:rPr lang="id-ID" smtClean="0"/>
              <a:t>24/10/2024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C08BEC80-8C65-4C9B-81F5-03A829D35C2F}" type="slidenum">
              <a:rPr lang="id-ID" smtClean="0"/>
              <a:t>‹#›</a:t>
            </a:fld>
            <a:endParaRPr lang="id-ID"/>
          </a:p>
        </p:txBody>
      </p:sp>
    </p:spTree>
    <p:extLst>
      <p:ext uri="{BB962C8B-B14F-4D97-AF65-F5344CB8AC3E}">
        <p14:creationId xmlns:p14="http://schemas.microsoft.com/office/powerpoint/2010/main" val="29194132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id-ID"/>
              <a:t>Klik untuk mengedit gaya judul Master</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C0E26CBB-FD62-4F63-B982-40F58B1D5EF2}" type="datetimeFigureOut">
              <a:rPr lang="id-ID" smtClean="0"/>
              <a:t>24/10/2024</a:t>
            </a:fld>
            <a:endParaRPr lang="id-ID"/>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id-ID"/>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C08BEC80-8C65-4C9B-81F5-03A829D35C2F}" type="slidenum">
              <a:rPr lang="id-ID" smtClean="0"/>
              <a:t>‹#›</a:t>
            </a:fld>
            <a:endParaRPr lang="id-ID"/>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2314284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youtu.be/dahrmqT5GD4?si=cLgxlKMJJVOuQIv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4B96840-973D-EDF6-A58B-00A896A7A810}"/>
              </a:ext>
            </a:extLst>
          </p:cNvPr>
          <p:cNvSpPr>
            <a:spLocks noGrp="1"/>
          </p:cNvSpPr>
          <p:nvPr>
            <p:ph type="ctrTitle"/>
          </p:nvPr>
        </p:nvSpPr>
        <p:spPr>
          <a:xfrm>
            <a:off x="1805400" y="1975104"/>
            <a:ext cx="8600472" cy="2907792"/>
          </a:xfrm>
        </p:spPr>
        <p:txBody>
          <a:bodyPr anchor="ctr"/>
          <a:lstStyle/>
          <a:p>
            <a:r>
              <a:rPr lang="id-ID" dirty="0">
                <a:latin typeface="Franklin Gothic Demi Cond" panose="020B0706030402020204" pitchFamily="34" charset="0"/>
              </a:rPr>
              <a:t>US </a:t>
            </a:r>
            <a:r>
              <a:rPr lang="id-ID" dirty="0" err="1">
                <a:latin typeface="Franklin Gothic Demi Cond" panose="020B0706030402020204" pitchFamily="34" charset="0"/>
              </a:rPr>
              <a:t>superstore</a:t>
            </a:r>
            <a:r>
              <a:rPr lang="id-ID" dirty="0">
                <a:latin typeface="Franklin Gothic Demi Cond" panose="020B0706030402020204" pitchFamily="34" charset="0"/>
              </a:rPr>
              <a:t> </a:t>
            </a:r>
            <a:r>
              <a:rPr lang="id-ID" dirty="0" err="1">
                <a:latin typeface="Franklin Gothic Demi Cond" panose="020B0706030402020204" pitchFamily="34" charset="0"/>
              </a:rPr>
              <a:t>sales</a:t>
            </a:r>
            <a:r>
              <a:rPr lang="id-ID" dirty="0">
                <a:latin typeface="Franklin Gothic Demi Cond" panose="020B0706030402020204" pitchFamily="34" charset="0"/>
              </a:rPr>
              <a:t> </a:t>
            </a:r>
            <a:r>
              <a:rPr lang="id-ID" dirty="0" err="1">
                <a:latin typeface="Franklin Gothic Demi Cond" panose="020B0706030402020204" pitchFamily="34" charset="0"/>
              </a:rPr>
              <a:t>dashboard</a:t>
            </a:r>
            <a:endParaRPr lang="id-ID" dirty="0">
              <a:latin typeface="Franklin Gothic Demi Cond" panose="020B0706030402020204" pitchFamily="34" charset="0"/>
            </a:endParaRPr>
          </a:p>
        </p:txBody>
      </p:sp>
    </p:spTree>
    <p:extLst>
      <p:ext uri="{BB962C8B-B14F-4D97-AF65-F5344CB8AC3E}">
        <p14:creationId xmlns:p14="http://schemas.microsoft.com/office/powerpoint/2010/main" val="29323978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mpungan Konten 2">
            <a:extLst>
              <a:ext uri="{FF2B5EF4-FFF2-40B4-BE49-F238E27FC236}">
                <a16:creationId xmlns:a16="http://schemas.microsoft.com/office/drawing/2014/main" id="{A0EAA38F-0D50-CF86-79D3-75DB3648FCAC}"/>
              </a:ext>
            </a:extLst>
          </p:cNvPr>
          <p:cNvSpPr>
            <a:spLocks noGrp="1"/>
          </p:cNvSpPr>
          <p:nvPr>
            <p:ph idx="1"/>
          </p:nvPr>
        </p:nvSpPr>
        <p:spPr>
          <a:xfrm>
            <a:off x="1061045" y="649224"/>
            <a:ext cx="10136037" cy="5605272"/>
          </a:xfrm>
        </p:spPr>
        <p:txBody>
          <a:bodyPr>
            <a:normAutofit/>
          </a:bodyPr>
          <a:lstStyle/>
          <a:p>
            <a:pPr marL="0" indent="0" algn="just">
              <a:buNone/>
            </a:pPr>
            <a:r>
              <a:rPr lang="id-ID" sz="4400" dirty="0">
                <a:latin typeface="Franklin Gothic Medium" panose="020B0603020102020204" pitchFamily="34" charset="0"/>
              </a:rPr>
              <a:t>OBJECTIVE</a:t>
            </a:r>
            <a:endParaRPr lang="id-ID" dirty="0">
              <a:latin typeface="Franklin Gothic Medium" panose="020B0603020102020204" pitchFamily="34" charset="0"/>
            </a:endParaRPr>
          </a:p>
          <a:p>
            <a:pPr marL="0" indent="0" algn="just">
              <a:buNone/>
            </a:pPr>
            <a:r>
              <a:rPr lang="id-ID" sz="2400" dirty="0">
                <a:effectLst/>
                <a:ea typeface="Calibri" panose="020F0502020204030204" pitchFamily="34" charset="0"/>
                <a:cs typeface="Cordia New" panose="020B0304020202020204" pitchFamily="34" charset="-34"/>
              </a:rPr>
              <a:t>To </a:t>
            </a:r>
            <a:r>
              <a:rPr lang="id-ID" sz="2400" dirty="0" err="1">
                <a:effectLst/>
                <a:ea typeface="Calibri" panose="020F0502020204030204" pitchFamily="34" charset="0"/>
                <a:cs typeface="Cordia New" panose="020B0304020202020204" pitchFamily="34" charset="-34"/>
              </a:rPr>
              <a:t>present</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an</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overview</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of</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sales</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from</a:t>
            </a:r>
            <a:r>
              <a:rPr lang="id-ID" sz="2400" dirty="0">
                <a:effectLst/>
                <a:ea typeface="Calibri" panose="020F0502020204030204" pitchFamily="34" charset="0"/>
                <a:cs typeface="Cordia New" panose="020B0304020202020204" pitchFamily="34" charset="-34"/>
              </a:rPr>
              <a:t> a </a:t>
            </a:r>
            <a:r>
              <a:rPr lang="id-ID" sz="2400" dirty="0" err="1">
                <a:effectLst/>
                <a:ea typeface="Calibri" panose="020F0502020204030204" pitchFamily="34" charset="0"/>
                <a:cs typeface="Cordia New" panose="020B0304020202020204" pitchFamily="34" charset="-34"/>
              </a:rPr>
              <a:t>superstore</a:t>
            </a:r>
            <a:r>
              <a:rPr lang="id-ID" sz="2400" dirty="0">
                <a:effectLst/>
                <a:ea typeface="Calibri" panose="020F0502020204030204" pitchFamily="34" charset="0"/>
                <a:cs typeface="Cordia New" panose="020B0304020202020204" pitchFamily="34" charset="-34"/>
              </a:rPr>
              <a:t> in </a:t>
            </a:r>
            <a:r>
              <a:rPr lang="id-ID" sz="2400" dirty="0" err="1">
                <a:effectLst/>
                <a:ea typeface="Calibri" panose="020F0502020204030204" pitchFamily="34" charset="0"/>
                <a:cs typeface="Cordia New" panose="020B0304020202020204" pitchFamily="34" charset="-34"/>
              </a:rPr>
              <a:t>the</a:t>
            </a:r>
            <a:r>
              <a:rPr lang="id-ID" sz="2400" dirty="0">
                <a:effectLst/>
                <a:ea typeface="Calibri" panose="020F0502020204030204" pitchFamily="34" charset="0"/>
                <a:cs typeface="Cordia New" panose="020B0304020202020204" pitchFamily="34" charset="-34"/>
              </a:rPr>
              <a:t> United States over </a:t>
            </a:r>
            <a:r>
              <a:rPr lang="id-ID" sz="2400" dirty="0" err="1">
                <a:effectLst/>
                <a:ea typeface="Calibri" panose="020F0502020204030204" pitchFamily="34" charset="0"/>
                <a:cs typeface="Cordia New" panose="020B0304020202020204" pitchFamily="34" charset="-34"/>
              </a:rPr>
              <a:t>the</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past</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few</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years</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using</a:t>
            </a:r>
            <a:r>
              <a:rPr lang="id-ID" sz="2400" dirty="0">
                <a:effectLst/>
                <a:ea typeface="Calibri" panose="020F0502020204030204" pitchFamily="34" charset="0"/>
                <a:cs typeface="Cordia New" panose="020B0304020202020204" pitchFamily="34" charset="-34"/>
              </a:rPr>
              <a:t> data </a:t>
            </a:r>
            <a:r>
              <a:rPr lang="id-ID" sz="2400" dirty="0" err="1">
                <a:effectLst/>
                <a:ea typeface="Calibri" panose="020F0502020204030204" pitchFamily="34" charset="0"/>
                <a:cs typeface="Cordia New" panose="020B0304020202020204" pitchFamily="34" charset="-34"/>
              </a:rPr>
              <a:t>visualization</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methods</a:t>
            </a:r>
            <a:r>
              <a:rPr lang="id-ID" sz="2400" dirty="0">
                <a:effectLst/>
                <a:ea typeface="Calibri" panose="020F0502020204030204" pitchFamily="34" charset="0"/>
                <a:cs typeface="Cordia New" panose="020B0304020202020204" pitchFamily="34" charset="-34"/>
              </a:rPr>
              <a:t>.</a:t>
            </a:r>
            <a:endParaRPr lang="id-ID" sz="2400" dirty="0"/>
          </a:p>
          <a:p>
            <a:pPr marL="0" indent="0" algn="just">
              <a:buNone/>
            </a:pPr>
            <a:endParaRPr lang="id-ID" sz="2400" dirty="0"/>
          </a:p>
          <a:p>
            <a:pPr marL="0" indent="0" algn="just">
              <a:buNone/>
            </a:pPr>
            <a:r>
              <a:rPr lang="id-ID" sz="4400" dirty="0">
                <a:latin typeface="Franklin Gothic Medium" panose="020B0603020102020204" pitchFamily="34" charset="0"/>
              </a:rPr>
              <a:t>DATA</a:t>
            </a:r>
            <a:endParaRPr lang="id-ID" dirty="0">
              <a:latin typeface="Franklin Gothic Medium" panose="020B0603020102020204" pitchFamily="34" charset="0"/>
            </a:endParaRPr>
          </a:p>
          <a:p>
            <a:pPr marL="0" indent="0" algn="just">
              <a:buNone/>
            </a:pPr>
            <a:r>
              <a:rPr lang="id-ID" sz="2400" dirty="0">
                <a:effectLst/>
                <a:ea typeface="Calibri" panose="020F0502020204030204" pitchFamily="34" charset="0"/>
                <a:cs typeface="Cordia New" panose="020B0304020202020204" pitchFamily="34" charset="-34"/>
              </a:rPr>
              <a:t>The data </a:t>
            </a:r>
            <a:r>
              <a:rPr lang="id-ID" sz="2400" dirty="0" err="1">
                <a:effectLst/>
                <a:ea typeface="Calibri" panose="020F0502020204030204" pitchFamily="34" charset="0"/>
                <a:cs typeface="Cordia New" panose="020B0304020202020204" pitchFamily="34" charset="-34"/>
              </a:rPr>
              <a:t>used</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is</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sample</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sales</a:t>
            </a:r>
            <a:r>
              <a:rPr lang="id-ID" sz="2400" dirty="0">
                <a:effectLst/>
                <a:ea typeface="Calibri" panose="020F0502020204030204" pitchFamily="34" charset="0"/>
                <a:cs typeface="Cordia New" panose="020B0304020202020204" pitchFamily="34" charset="-34"/>
              </a:rPr>
              <a:t> data </a:t>
            </a:r>
            <a:r>
              <a:rPr lang="id-ID" sz="2400" dirty="0" err="1">
                <a:effectLst/>
                <a:ea typeface="Calibri" panose="020F0502020204030204" pitchFamily="34" charset="0"/>
                <a:cs typeface="Cordia New" panose="020B0304020202020204" pitchFamily="34" charset="-34"/>
              </a:rPr>
              <a:t>from</a:t>
            </a:r>
            <a:r>
              <a:rPr lang="id-ID" sz="2400" dirty="0">
                <a:effectLst/>
                <a:ea typeface="Calibri" panose="020F0502020204030204" pitchFamily="34" charset="0"/>
                <a:cs typeface="Cordia New" panose="020B0304020202020204" pitchFamily="34" charset="-34"/>
              </a:rPr>
              <a:t> a </a:t>
            </a:r>
            <a:r>
              <a:rPr lang="id-ID" sz="2400" dirty="0" err="1">
                <a:effectLst/>
                <a:ea typeface="Calibri" panose="020F0502020204030204" pitchFamily="34" charset="0"/>
                <a:cs typeface="Cordia New" panose="020B0304020202020204" pitchFamily="34" charset="-34"/>
              </a:rPr>
              <a:t>superstore</a:t>
            </a:r>
            <a:r>
              <a:rPr lang="id-ID" sz="2400" dirty="0">
                <a:effectLst/>
                <a:ea typeface="Calibri" panose="020F0502020204030204" pitchFamily="34" charset="0"/>
                <a:cs typeface="Cordia New" panose="020B0304020202020204" pitchFamily="34" charset="-34"/>
              </a:rPr>
              <a:t> in </a:t>
            </a:r>
            <a:r>
              <a:rPr lang="id-ID" sz="2400" dirty="0" err="1">
                <a:effectLst/>
                <a:ea typeface="Calibri" panose="020F0502020204030204" pitchFamily="34" charset="0"/>
                <a:cs typeface="Cordia New" panose="020B0304020202020204" pitchFamily="34" charset="-34"/>
              </a:rPr>
              <a:t>the</a:t>
            </a:r>
            <a:r>
              <a:rPr lang="id-ID" sz="2400" dirty="0">
                <a:effectLst/>
                <a:ea typeface="Calibri" panose="020F0502020204030204" pitchFamily="34" charset="0"/>
                <a:cs typeface="Cordia New" panose="020B0304020202020204" pitchFamily="34" charset="-34"/>
              </a:rPr>
              <a:t> United States, </a:t>
            </a:r>
            <a:r>
              <a:rPr lang="id-ID" sz="2400" dirty="0" err="1">
                <a:effectLst/>
                <a:ea typeface="Calibri" panose="020F0502020204030204" pitchFamily="34" charset="0"/>
                <a:cs typeface="Cordia New" panose="020B0304020202020204" pitchFamily="34" charset="-34"/>
              </a:rPr>
              <a:t>consisting</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of</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several</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variables</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such</a:t>
            </a:r>
            <a:r>
              <a:rPr lang="id-ID" sz="2400" dirty="0">
                <a:effectLst/>
                <a:ea typeface="Calibri" panose="020F0502020204030204" pitchFamily="34" charset="0"/>
                <a:cs typeface="Cordia New" panose="020B0304020202020204" pitchFamily="34" charset="-34"/>
              </a:rPr>
              <a:t> as order </a:t>
            </a:r>
            <a:r>
              <a:rPr lang="id-ID" sz="2400" dirty="0" err="1">
                <a:effectLst/>
                <a:ea typeface="Calibri" panose="020F0502020204030204" pitchFamily="34" charset="0"/>
                <a:cs typeface="Cordia New" panose="020B0304020202020204" pitchFamily="34" charset="-34"/>
              </a:rPr>
              <a:t>date</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shipping</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location</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sales</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value</a:t>
            </a:r>
            <a:r>
              <a:rPr lang="id-ID" sz="2400" dirty="0">
                <a:effectLst/>
                <a:ea typeface="Calibri" panose="020F0502020204030204" pitchFamily="34" charset="0"/>
                <a:cs typeface="Cordia New" panose="020B0304020202020204" pitchFamily="34" charset="-34"/>
              </a:rPr>
              <a:t>, profit </a:t>
            </a:r>
            <a:r>
              <a:rPr lang="id-ID" sz="2400" dirty="0" err="1">
                <a:effectLst/>
                <a:ea typeface="Calibri" panose="020F0502020204030204" pitchFamily="34" charset="0"/>
                <a:cs typeface="Cordia New" panose="020B0304020202020204" pitchFamily="34" charset="-34"/>
              </a:rPr>
              <a:t>value</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quantity</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sold</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and</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more</a:t>
            </a:r>
            <a:r>
              <a:rPr lang="id-ID" sz="2400" dirty="0">
                <a:effectLst/>
                <a:ea typeface="Calibri" panose="020F0502020204030204" pitchFamily="34" charset="0"/>
                <a:cs typeface="Cordia New" panose="020B0304020202020204" pitchFamily="34" charset="-34"/>
              </a:rPr>
              <a:t>.</a:t>
            </a:r>
            <a:endParaRPr lang="id-ID" sz="2400" dirty="0"/>
          </a:p>
          <a:p>
            <a:pPr marL="0" indent="0" algn="just">
              <a:buNone/>
            </a:pPr>
            <a:endParaRPr lang="id-ID" sz="2400" dirty="0"/>
          </a:p>
          <a:p>
            <a:pPr marL="0" indent="0" algn="just">
              <a:buNone/>
            </a:pPr>
            <a:r>
              <a:rPr lang="id-ID" sz="2400" dirty="0" err="1">
                <a:effectLst/>
                <a:ea typeface="Calibri" panose="020F0502020204030204" pitchFamily="34" charset="0"/>
                <a:cs typeface="Cordia New" panose="020B0304020202020204" pitchFamily="34" charset="-34"/>
              </a:rPr>
              <a:t>This</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portfolio</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was</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created</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by</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following</a:t>
            </a:r>
            <a:r>
              <a:rPr lang="id-ID" sz="2400" dirty="0">
                <a:effectLst/>
                <a:ea typeface="Calibri" panose="020F0502020204030204" pitchFamily="34" charset="0"/>
                <a:cs typeface="Cordia New" panose="020B0304020202020204" pitchFamily="34" charset="-34"/>
              </a:rPr>
              <a:t> a </a:t>
            </a:r>
            <a:r>
              <a:rPr lang="id-ID" sz="2400" dirty="0" err="1">
                <a:solidFill>
                  <a:srgbClr val="FF0000"/>
                </a:solidFill>
                <a:effectLst/>
                <a:ea typeface="Calibri" panose="020F0502020204030204" pitchFamily="34" charset="0"/>
                <a:cs typeface="Cordia New" panose="020B0304020202020204" pitchFamily="34" charset="-34"/>
              </a:rPr>
              <a:t>YouTube</a:t>
            </a:r>
            <a:r>
              <a:rPr lang="id-ID" sz="2400" dirty="0">
                <a:effectLst/>
                <a:ea typeface="Calibri" panose="020F0502020204030204" pitchFamily="34" charset="0"/>
                <a:cs typeface="Cordia New" panose="020B0304020202020204" pitchFamily="34" charset="-34"/>
              </a:rPr>
              <a:t> video </a:t>
            </a:r>
            <a:r>
              <a:rPr lang="id-ID" sz="2400" dirty="0" err="1">
                <a:effectLst/>
                <a:ea typeface="Calibri" panose="020F0502020204030204" pitchFamily="34" charset="0"/>
                <a:cs typeface="Cordia New" panose="020B0304020202020204" pitchFamily="34" charset="-34"/>
              </a:rPr>
              <a:t>by</a:t>
            </a:r>
            <a:r>
              <a:rPr lang="id-ID" sz="2400" dirty="0">
                <a:effectLst/>
                <a:ea typeface="Calibri" panose="020F0502020204030204" pitchFamily="34" charset="0"/>
                <a:cs typeface="Cordia New" panose="020B0304020202020204" pitchFamily="34" charset="-34"/>
              </a:rPr>
              <a:t> Data </a:t>
            </a:r>
            <a:r>
              <a:rPr lang="id-ID" sz="2400" dirty="0" err="1">
                <a:effectLst/>
                <a:ea typeface="Calibri" panose="020F0502020204030204" pitchFamily="34" charset="0"/>
                <a:cs typeface="Cordia New" panose="020B0304020202020204" pitchFamily="34" charset="-34"/>
              </a:rPr>
              <a:t>With</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Baraa</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with</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some</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modifications</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added</a:t>
            </a:r>
            <a:r>
              <a:rPr lang="id-ID" sz="2400" dirty="0">
                <a:effectLst/>
                <a:ea typeface="Calibri" panose="020F0502020204030204" pitchFamily="34" charset="0"/>
                <a:cs typeface="Cordia New" panose="020B0304020202020204" pitchFamily="34" charset="-34"/>
              </a:rPr>
              <a:t>. To </a:t>
            </a:r>
            <a:r>
              <a:rPr lang="id-ID" sz="2400" dirty="0" err="1">
                <a:effectLst/>
                <a:ea typeface="Calibri" panose="020F0502020204030204" pitchFamily="34" charset="0"/>
                <a:cs typeface="Cordia New" panose="020B0304020202020204" pitchFamily="34" charset="-34"/>
              </a:rPr>
              <a:t>see</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the</a:t>
            </a:r>
            <a:r>
              <a:rPr lang="id-ID" sz="2400" dirty="0">
                <a:effectLst/>
                <a:ea typeface="Calibri" panose="020F0502020204030204" pitchFamily="34" charset="0"/>
                <a:cs typeface="Cordia New" panose="020B0304020202020204" pitchFamily="34" charset="-34"/>
              </a:rPr>
              <a:t> </a:t>
            </a:r>
            <a:r>
              <a:rPr lang="id-ID" sz="2400" dirty="0" err="1">
                <a:effectLst/>
                <a:ea typeface="Calibri" panose="020F0502020204030204" pitchFamily="34" charset="0"/>
                <a:cs typeface="Cordia New" panose="020B0304020202020204" pitchFamily="34" charset="-34"/>
              </a:rPr>
              <a:t>full</a:t>
            </a:r>
            <a:r>
              <a:rPr lang="id-ID" sz="2400" dirty="0">
                <a:effectLst/>
                <a:ea typeface="Calibri" panose="020F0502020204030204" pitchFamily="34" charset="0"/>
                <a:cs typeface="Cordia New" panose="020B0304020202020204" pitchFamily="34" charset="-34"/>
              </a:rPr>
              <a:t> video, </a:t>
            </a:r>
            <a:r>
              <a:rPr lang="id-ID" sz="2400" dirty="0" err="1">
                <a:effectLst/>
                <a:ea typeface="Calibri" panose="020F0502020204030204" pitchFamily="34" charset="0"/>
                <a:cs typeface="Cordia New" panose="020B0304020202020204" pitchFamily="34" charset="-34"/>
              </a:rPr>
              <a:t>click</a:t>
            </a:r>
            <a:r>
              <a:rPr lang="id-ID" sz="2400" dirty="0">
                <a:effectLst/>
                <a:ea typeface="Calibri" panose="020F0502020204030204" pitchFamily="34" charset="0"/>
                <a:cs typeface="Cordia New" panose="020B0304020202020204" pitchFamily="34" charset="-34"/>
              </a:rPr>
              <a:t> </a:t>
            </a:r>
            <a:r>
              <a:rPr lang="id-ID" sz="2400" dirty="0">
                <a:effectLst/>
                <a:ea typeface="Calibri" panose="020F0502020204030204" pitchFamily="34" charset="0"/>
                <a:cs typeface="Cordia New" panose="020B0304020202020204" pitchFamily="34" charset="-34"/>
                <a:hlinkClick r:id="rId2"/>
              </a:rPr>
              <a:t>here</a:t>
            </a:r>
            <a:endParaRPr lang="id-ID" sz="2400" dirty="0"/>
          </a:p>
        </p:txBody>
      </p:sp>
    </p:spTree>
    <p:extLst>
      <p:ext uri="{BB962C8B-B14F-4D97-AF65-F5344CB8AC3E}">
        <p14:creationId xmlns:p14="http://schemas.microsoft.com/office/powerpoint/2010/main" val="29853535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1F92A34-EDD7-0C77-127B-6B0793C84E36}"/>
              </a:ext>
            </a:extLst>
          </p:cNvPr>
          <p:cNvSpPr>
            <a:spLocks noGrp="1"/>
          </p:cNvSpPr>
          <p:nvPr>
            <p:ph type="title"/>
          </p:nvPr>
        </p:nvSpPr>
        <p:spPr>
          <a:xfrm>
            <a:off x="1061050" y="685800"/>
            <a:ext cx="9601200" cy="1485900"/>
          </a:xfrm>
        </p:spPr>
        <p:txBody>
          <a:bodyPr/>
          <a:lstStyle/>
          <a:p>
            <a:r>
              <a:rPr lang="id-ID" dirty="0">
                <a:latin typeface="Franklin Gothic Medium" panose="020B0603020102020204" pitchFamily="34" charset="0"/>
              </a:rPr>
              <a:t>DATA NAVIGATION BUTTON</a:t>
            </a:r>
          </a:p>
        </p:txBody>
      </p:sp>
      <p:pic>
        <p:nvPicPr>
          <p:cNvPr id="5" name="Gambar 4">
            <a:extLst>
              <a:ext uri="{FF2B5EF4-FFF2-40B4-BE49-F238E27FC236}">
                <a16:creationId xmlns:a16="http://schemas.microsoft.com/office/drawing/2014/main" id="{5FC3E66F-1AB3-CA0D-CC69-154DB09C65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0454" y="2479775"/>
            <a:ext cx="2520000" cy="2503476"/>
          </a:xfrm>
          <a:prstGeom prst="rect">
            <a:avLst/>
          </a:prstGeom>
        </p:spPr>
      </p:pic>
      <p:pic>
        <p:nvPicPr>
          <p:cNvPr id="7" name="Gambar 6">
            <a:extLst>
              <a:ext uri="{FF2B5EF4-FFF2-40B4-BE49-F238E27FC236}">
                <a16:creationId xmlns:a16="http://schemas.microsoft.com/office/drawing/2014/main" id="{C33C0C4A-DF4B-7A3D-BB22-B0735AAF9A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8974" y="2487717"/>
            <a:ext cx="2520000" cy="2495534"/>
          </a:xfrm>
          <a:prstGeom prst="rect">
            <a:avLst/>
          </a:prstGeom>
        </p:spPr>
      </p:pic>
      <p:pic>
        <p:nvPicPr>
          <p:cNvPr id="9" name="Gambar 8">
            <a:extLst>
              <a:ext uri="{FF2B5EF4-FFF2-40B4-BE49-F238E27FC236}">
                <a16:creationId xmlns:a16="http://schemas.microsoft.com/office/drawing/2014/main" id="{ABBBB783-A4E4-8FCC-B2F1-56A9ADCE1D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7494" y="2494949"/>
            <a:ext cx="2520000" cy="2488302"/>
          </a:xfrm>
          <a:prstGeom prst="rect">
            <a:avLst/>
          </a:prstGeom>
        </p:spPr>
      </p:pic>
    </p:spTree>
    <p:extLst>
      <p:ext uri="{BB962C8B-B14F-4D97-AF65-F5344CB8AC3E}">
        <p14:creationId xmlns:p14="http://schemas.microsoft.com/office/powerpoint/2010/main" val="3004226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1F92A34-EDD7-0C77-127B-6B0793C84E36}"/>
              </a:ext>
            </a:extLst>
          </p:cNvPr>
          <p:cNvSpPr>
            <a:spLocks noGrp="1"/>
          </p:cNvSpPr>
          <p:nvPr>
            <p:ph type="title"/>
          </p:nvPr>
        </p:nvSpPr>
        <p:spPr>
          <a:xfrm>
            <a:off x="1061052" y="685800"/>
            <a:ext cx="9601200" cy="1485900"/>
          </a:xfrm>
        </p:spPr>
        <p:txBody>
          <a:bodyPr/>
          <a:lstStyle/>
          <a:p>
            <a:r>
              <a:rPr lang="id-ID" dirty="0">
                <a:latin typeface="Franklin Gothic Medium" panose="020B0603020102020204" pitchFamily="34" charset="0"/>
              </a:rPr>
              <a:t>DATA NAVIGATION BUTTON</a:t>
            </a:r>
          </a:p>
        </p:txBody>
      </p:sp>
      <p:sp>
        <p:nvSpPr>
          <p:cNvPr id="3" name="Tampungan Konten 2">
            <a:extLst>
              <a:ext uri="{FF2B5EF4-FFF2-40B4-BE49-F238E27FC236}">
                <a16:creationId xmlns:a16="http://schemas.microsoft.com/office/drawing/2014/main" id="{0F5AC264-725E-BDBD-1888-25679D5BA5BB}"/>
              </a:ext>
            </a:extLst>
          </p:cNvPr>
          <p:cNvSpPr>
            <a:spLocks noGrp="1"/>
          </p:cNvSpPr>
          <p:nvPr>
            <p:ph idx="1"/>
          </p:nvPr>
        </p:nvSpPr>
        <p:spPr>
          <a:xfrm>
            <a:off x="2734574" y="2001330"/>
            <a:ext cx="6262777" cy="1147312"/>
          </a:xfrm>
        </p:spPr>
        <p:txBody>
          <a:bodyPr>
            <a:normAutofit fontScale="92500" lnSpcReduction="20000"/>
          </a:bodyPr>
          <a:lstStyle/>
          <a:p>
            <a:pPr marL="0" indent="0" algn="just">
              <a:lnSpc>
                <a:spcPct val="110000"/>
              </a:lnSpc>
              <a:buNone/>
            </a:pPr>
            <a:r>
              <a:rPr lang="id-ID" sz="4300" dirty="0" err="1">
                <a:latin typeface="Franklin Gothic Medium" panose="020B0603020102020204" pitchFamily="34" charset="0"/>
              </a:rPr>
              <a:t>Sales</a:t>
            </a:r>
            <a:r>
              <a:rPr lang="id-ID" sz="4300" dirty="0">
                <a:latin typeface="Franklin Gothic Medium" panose="020B0603020102020204" pitchFamily="34" charset="0"/>
              </a:rPr>
              <a:t> </a:t>
            </a:r>
            <a:r>
              <a:rPr lang="id-ID" sz="4300" dirty="0" err="1">
                <a:latin typeface="Franklin Gothic Medium" panose="020B0603020102020204" pitchFamily="34" charset="0"/>
              </a:rPr>
              <a:t>Dashboard</a:t>
            </a:r>
            <a:r>
              <a:rPr lang="id-ID" sz="4300" dirty="0">
                <a:latin typeface="Franklin Gothic Medium" panose="020B0603020102020204" pitchFamily="34" charset="0"/>
              </a:rPr>
              <a:t> </a:t>
            </a:r>
            <a:r>
              <a:rPr lang="id-ID" sz="4300" dirty="0" err="1">
                <a:latin typeface="Franklin Gothic Medium" panose="020B0603020102020204" pitchFamily="34" charset="0"/>
              </a:rPr>
              <a:t>Button</a:t>
            </a:r>
            <a:endParaRPr lang="id-ID" sz="4300" dirty="0">
              <a:latin typeface="Franklin Gothic Medium" panose="020B0603020102020204" pitchFamily="34" charset="0"/>
            </a:endParaRPr>
          </a:p>
          <a:p>
            <a:pPr marL="0" indent="0" algn="just">
              <a:lnSpc>
                <a:spcPct val="110000"/>
              </a:lnSpc>
              <a:buNone/>
            </a:pPr>
            <a:r>
              <a:rPr lang="id-ID" sz="2200" dirty="0" err="1">
                <a:effectLst/>
                <a:ea typeface="Calibri" panose="020F0502020204030204" pitchFamily="34" charset="0"/>
                <a:cs typeface="Cordia New" panose="020B0304020202020204" pitchFamily="34" charset="-34"/>
              </a:rPr>
              <a:t>This</a:t>
            </a:r>
            <a:r>
              <a:rPr lang="id-ID" sz="2200" dirty="0">
                <a:effectLst/>
                <a:ea typeface="Calibri" panose="020F0502020204030204" pitchFamily="34" charset="0"/>
                <a:cs typeface="Cordia New" panose="020B0304020202020204" pitchFamily="34" charset="-34"/>
              </a:rPr>
              <a:t> </a:t>
            </a:r>
            <a:r>
              <a:rPr lang="id-ID" sz="2200" dirty="0" err="1">
                <a:effectLst/>
                <a:ea typeface="Calibri" panose="020F0502020204030204" pitchFamily="34" charset="0"/>
                <a:cs typeface="Cordia New" panose="020B0304020202020204" pitchFamily="34" charset="-34"/>
              </a:rPr>
              <a:t>button</a:t>
            </a:r>
            <a:r>
              <a:rPr lang="id-ID" sz="2200" dirty="0">
                <a:effectLst/>
                <a:ea typeface="Calibri" panose="020F0502020204030204" pitchFamily="34" charset="0"/>
                <a:cs typeface="Cordia New" panose="020B0304020202020204" pitchFamily="34" charset="-34"/>
              </a:rPr>
              <a:t> </a:t>
            </a:r>
            <a:r>
              <a:rPr lang="id-ID" sz="2200" dirty="0" err="1">
                <a:effectLst/>
                <a:ea typeface="Calibri" panose="020F0502020204030204" pitchFamily="34" charset="0"/>
                <a:cs typeface="Cordia New" panose="020B0304020202020204" pitchFamily="34" charset="-34"/>
              </a:rPr>
              <a:t>directs</a:t>
            </a:r>
            <a:r>
              <a:rPr lang="id-ID" sz="2200" dirty="0">
                <a:effectLst/>
                <a:ea typeface="Calibri" panose="020F0502020204030204" pitchFamily="34" charset="0"/>
                <a:cs typeface="Cordia New" panose="020B0304020202020204" pitchFamily="34" charset="-34"/>
              </a:rPr>
              <a:t> </a:t>
            </a:r>
            <a:r>
              <a:rPr lang="id-ID" sz="2200" dirty="0" err="1">
                <a:effectLst/>
                <a:ea typeface="Calibri" panose="020F0502020204030204" pitchFamily="34" charset="0"/>
                <a:cs typeface="Cordia New" panose="020B0304020202020204" pitchFamily="34" charset="-34"/>
              </a:rPr>
              <a:t>the</a:t>
            </a:r>
            <a:r>
              <a:rPr lang="id-ID" sz="2200" dirty="0">
                <a:effectLst/>
                <a:ea typeface="Calibri" panose="020F0502020204030204" pitchFamily="34" charset="0"/>
                <a:cs typeface="Cordia New" panose="020B0304020202020204" pitchFamily="34" charset="-34"/>
              </a:rPr>
              <a:t> </a:t>
            </a:r>
            <a:r>
              <a:rPr lang="id-ID" sz="2200" dirty="0" err="1">
                <a:effectLst/>
                <a:ea typeface="Calibri" panose="020F0502020204030204" pitchFamily="34" charset="0"/>
                <a:cs typeface="Cordia New" panose="020B0304020202020204" pitchFamily="34" charset="-34"/>
              </a:rPr>
              <a:t>user</a:t>
            </a:r>
            <a:r>
              <a:rPr lang="id-ID" sz="2200" dirty="0">
                <a:effectLst/>
                <a:ea typeface="Calibri" panose="020F0502020204030204" pitchFamily="34" charset="0"/>
                <a:cs typeface="Cordia New" panose="020B0304020202020204" pitchFamily="34" charset="-34"/>
              </a:rPr>
              <a:t> </a:t>
            </a:r>
            <a:r>
              <a:rPr lang="id-ID" sz="2200" dirty="0" err="1">
                <a:effectLst/>
                <a:ea typeface="Calibri" panose="020F0502020204030204" pitchFamily="34" charset="0"/>
                <a:cs typeface="Cordia New" panose="020B0304020202020204" pitchFamily="34" charset="-34"/>
              </a:rPr>
              <a:t>to</a:t>
            </a:r>
            <a:r>
              <a:rPr lang="id-ID" sz="2200" dirty="0">
                <a:effectLst/>
                <a:ea typeface="Calibri" panose="020F0502020204030204" pitchFamily="34" charset="0"/>
                <a:cs typeface="Cordia New" panose="020B0304020202020204" pitchFamily="34" charset="-34"/>
              </a:rPr>
              <a:t> </a:t>
            </a:r>
            <a:r>
              <a:rPr lang="id-ID" sz="2200" dirty="0" err="1">
                <a:effectLst/>
                <a:ea typeface="Calibri" panose="020F0502020204030204" pitchFamily="34" charset="0"/>
                <a:cs typeface="Cordia New" panose="020B0304020202020204" pitchFamily="34" charset="-34"/>
              </a:rPr>
              <a:t>the</a:t>
            </a:r>
            <a:r>
              <a:rPr lang="id-ID" sz="2200" dirty="0">
                <a:effectLst/>
                <a:ea typeface="Calibri" panose="020F0502020204030204" pitchFamily="34" charset="0"/>
                <a:cs typeface="Cordia New" panose="020B0304020202020204" pitchFamily="34" charset="-34"/>
              </a:rPr>
              <a:t> </a:t>
            </a:r>
            <a:r>
              <a:rPr lang="id-ID" sz="2200" dirty="0" err="1">
                <a:effectLst/>
                <a:ea typeface="Calibri" panose="020F0502020204030204" pitchFamily="34" charset="0"/>
                <a:cs typeface="Cordia New" panose="020B0304020202020204" pitchFamily="34" charset="-34"/>
              </a:rPr>
              <a:t>Sales</a:t>
            </a:r>
            <a:r>
              <a:rPr lang="id-ID" sz="2200" dirty="0">
                <a:effectLst/>
                <a:ea typeface="Calibri" panose="020F0502020204030204" pitchFamily="34" charset="0"/>
                <a:cs typeface="Cordia New" panose="020B0304020202020204" pitchFamily="34" charset="-34"/>
              </a:rPr>
              <a:t> </a:t>
            </a:r>
            <a:r>
              <a:rPr lang="id-ID" sz="2200" dirty="0" err="1">
                <a:effectLst/>
                <a:ea typeface="Calibri" panose="020F0502020204030204" pitchFamily="34" charset="0"/>
                <a:cs typeface="Cordia New" panose="020B0304020202020204" pitchFamily="34" charset="-34"/>
              </a:rPr>
              <a:t>Dashboard</a:t>
            </a:r>
            <a:r>
              <a:rPr lang="id-ID" sz="2200" dirty="0">
                <a:effectLst/>
                <a:ea typeface="Calibri" panose="020F0502020204030204" pitchFamily="34" charset="0"/>
                <a:cs typeface="Cordia New" panose="020B0304020202020204" pitchFamily="34" charset="-34"/>
              </a:rPr>
              <a:t>.</a:t>
            </a:r>
            <a:endParaRPr lang="id-ID" sz="2200" dirty="0"/>
          </a:p>
        </p:txBody>
      </p:sp>
      <p:pic>
        <p:nvPicPr>
          <p:cNvPr id="4" name="Gambar 3">
            <a:extLst>
              <a:ext uri="{FF2B5EF4-FFF2-40B4-BE49-F238E27FC236}">
                <a16:creationId xmlns:a16="http://schemas.microsoft.com/office/drawing/2014/main" id="{40AF1040-923E-163B-810D-1686BE3FD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5831" y="2001330"/>
            <a:ext cx="1080000" cy="1072918"/>
          </a:xfrm>
          <a:prstGeom prst="rect">
            <a:avLst/>
          </a:prstGeom>
        </p:spPr>
      </p:pic>
      <p:pic>
        <p:nvPicPr>
          <p:cNvPr id="5" name="Gambar 4">
            <a:extLst>
              <a:ext uri="{FF2B5EF4-FFF2-40B4-BE49-F238E27FC236}">
                <a16:creationId xmlns:a16="http://schemas.microsoft.com/office/drawing/2014/main" id="{C1592B80-FAE5-0E64-AA0E-B7749E74C8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5809" y="3429000"/>
            <a:ext cx="1080000" cy="1069515"/>
          </a:xfrm>
          <a:prstGeom prst="rect">
            <a:avLst/>
          </a:prstGeom>
        </p:spPr>
      </p:pic>
      <p:pic>
        <p:nvPicPr>
          <p:cNvPr id="6" name="Gambar 5">
            <a:extLst>
              <a:ext uri="{FF2B5EF4-FFF2-40B4-BE49-F238E27FC236}">
                <a16:creationId xmlns:a16="http://schemas.microsoft.com/office/drawing/2014/main" id="{A5EE5E52-03C0-437E-4380-530202D59E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4463" y="5060301"/>
            <a:ext cx="1080000" cy="1066415"/>
          </a:xfrm>
          <a:prstGeom prst="rect">
            <a:avLst/>
          </a:prstGeom>
        </p:spPr>
      </p:pic>
      <p:sp>
        <p:nvSpPr>
          <p:cNvPr id="7" name="Tampungan Konten 2">
            <a:extLst>
              <a:ext uri="{FF2B5EF4-FFF2-40B4-BE49-F238E27FC236}">
                <a16:creationId xmlns:a16="http://schemas.microsoft.com/office/drawing/2014/main" id="{FACED383-0A3B-6DB1-D5E3-0519E0AB25F0}"/>
              </a:ext>
            </a:extLst>
          </p:cNvPr>
          <p:cNvSpPr txBox="1">
            <a:spLocks/>
          </p:cNvSpPr>
          <p:nvPr/>
        </p:nvSpPr>
        <p:spPr>
          <a:xfrm>
            <a:off x="2967486" y="3443375"/>
            <a:ext cx="6357667" cy="1147312"/>
          </a:xfrm>
          <a:prstGeom prst="rect">
            <a:avLst/>
          </a:prstGeom>
        </p:spPr>
        <p:txBody>
          <a:bodyPr vert="horz" lIns="91440" tIns="45720" rIns="91440" bIns="45720" rtlCol="0">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00000"/>
              </a:lnSpc>
              <a:buFont typeface="Franklin Gothic Book" panose="020B0503020102020204" pitchFamily="34" charset="0"/>
              <a:buNone/>
            </a:pPr>
            <a:r>
              <a:rPr lang="id-ID" sz="4000" dirty="0" err="1">
                <a:latin typeface="Franklin Gothic Medium" panose="020B0603020102020204" pitchFamily="34" charset="0"/>
              </a:rPr>
              <a:t>Customer</a:t>
            </a:r>
            <a:r>
              <a:rPr lang="id-ID" sz="4000" dirty="0">
                <a:latin typeface="Franklin Gothic Medium" panose="020B0603020102020204" pitchFamily="34" charset="0"/>
              </a:rPr>
              <a:t> </a:t>
            </a:r>
            <a:r>
              <a:rPr lang="id-ID" sz="4000" dirty="0" err="1">
                <a:latin typeface="Franklin Gothic Medium" panose="020B0603020102020204" pitchFamily="34" charset="0"/>
              </a:rPr>
              <a:t>Dashboard</a:t>
            </a:r>
            <a:r>
              <a:rPr lang="id-ID" sz="4000" dirty="0">
                <a:latin typeface="Franklin Gothic Medium" panose="020B0603020102020204" pitchFamily="34" charset="0"/>
              </a:rPr>
              <a:t> </a:t>
            </a:r>
            <a:r>
              <a:rPr lang="id-ID" sz="4000" dirty="0" err="1">
                <a:latin typeface="Franklin Gothic Medium" panose="020B0603020102020204" pitchFamily="34" charset="0"/>
              </a:rPr>
              <a:t>Button</a:t>
            </a:r>
            <a:endParaRPr lang="id-ID" dirty="0">
              <a:latin typeface="Franklin Gothic Medium" panose="020B0603020102020204" pitchFamily="34" charset="0"/>
            </a:endParaRPr>
          </a:p>
          <a:p>
            <a:pPr marL="0" indent="0" algn="just">
              <a:lnSpc>
                <a:spcPct val="100000"/>
              </a:lnSpc>
              <a:buFont typeface="Franklin Gothic Book" panose="020B0503020102020204" pitchFamily="34" charset="0"/>
              <a:buNone/>
            </a:pPr>
            <a:r>
              <a:rPr lang="id-ID" dirty="0" err="1">
                <a:ea typeface="Calibri" panose="020F0502020204030204" pitchFamily="34" charset="0"/>
                <a:cs typeface="Cordia New" panose="020B0304020202020204" pitchFamily="34" charset="-34"/>
              </a:rPr>
              <a:t>This</a:t>
            </a:r>
            <a:r>
              <a:rPr lang="id-ID" dirty="0">
                <a:ea typeface="Calibri" panose="020F0502020204030204" pitchFamily="34" charset="0"/>
                <a:cs typeface="Cordia New" panose="020B0304020202020204" pitchFamily="34" charset="-34"/>
              </a:rPr>
              <a:t> </a:t>
            </a:r>
            <a:r>
              <a:rPr lang="id-ID" dirty="0" err="1">
                <a:ea typeface="Calibri" panose="020F0502020204030204" pitchFamily="34" charset="0"/>
                <a:cs typeface="Cordia New" panose="020B0304020202020204" pitchFamily="34" charset="-34"/>
              </a:rPr>
              <a:t>button</a:t>
            </a:r>
            <a:r>
              <a:rPr lang="id-ID" dirty="0">
                <a:ea typeface="Calibri" panose="020F0502020204030204" pitchFamily="34" charset="0"/>
                <a:cs typeface="Cordia New" panose="020B0304020202020204" pitchFamily="34" charset="-34"/>
              </a:rPr>
              <a:t> </a:t>
            </a:r>
            <a:r>
              <a:rPr lang="id-ID" dirty="0" err="1">
                <a:ea typeface="Calibri" panose="020F0502020204030204" pitchFamily="34" charset="0"/>
                <a:cs typeface="Cordia New" panose="020B0304020202020204" pitchFamily="34" charset="-34"/>
              </a:rPr>
              <a:t>directs</a:t>
            </a:r>
            <a:r>
              <a:rPr lang="id-ID" dirty="0">
                <a:ea typeface="Calibri" panose="020F0502020204030204" pitchFamily="34" charset="0"/>
                <a:cs typeface="Cordia New" panose="020B0304020202020204" pitchFamily="34" charset="-34"/>
              </a:rPr>
              <a:t> </a:t>
            </a:r>
            <a:r>
              <a:rPr lang="id-ID" dirty="0" err="1">
                <a:ea typeface="Calibri" panose="020F0502020204030204" pitchFamily="34" charset="0"/>
                <a:cs typeface="Cordia New" panose="020B0304020202020204" pitchFamily="34" charset="-34"/>
              </a:rPr>
              <a:t>the</a:t>
            </a:r>
            <a:r>
              <a:rPr lang="id-ID" dirty="0">
                <a:ea typeface="Calibri" panose="020F0502020204030204" pitchFamily="34" charset="0"/>
                <a:cs typeface="Cordia New" panose="020B0304020202020204" pitchFamily="34" charset="-34"/>
              </a:rPr>
              <a:t> </a:t>
            </a:r>
            <a:r>
              <a:rPr lang="id-ID" dirty="0" err="1">
                <a:ea typeface="Calibri" panose="020F0502020204030204" pitchFamily="34" charset="0"/>
                <a:cs typeface="Cordia New" panose="020B0304020202020204" pitchFamily="34" charset="-34"/>
              </a:rPr>
              <a:t>user</a:t>
            </a:r>
            <a:r>
              <a:rPr lang="id-ID" dirty="0">
                <a:ea typeface="Calibri" panose="020F0502020204030204" pitchFamily="34" charset="0"/>
                <a:cs typeface="Cordia New" panose="020B0304020202020204" pitchFamily="34" charset="-34"/>
              </a:rPr>
              <a:t> </a:t>
            </a:r>
            <a:r>
              <a:rPr lang="id-ID" dirty="0" err="1">
                <a:ea typeface="Calibri" panose="020F0502020204030204" pitchFamily="34" charset="0"/>
                <a:cs typeface="Cordia New" panose="020B0304020202020204" pitchFamily="34" charset="-34"/>
              </a:rPr>
              <a:t>to</a:t>
            </a:r>
            <a:r>
              <a:rPr lang="id-ID" dirty="0">
                <a:ea typeface="Calibri" panose="020F0502020204030204" pitchFamily="34" charset="0"/>
                <a:cs typeface="Cordia New" panose="020B0304020202020204" pitchFamily="34" charset="-34"/>
              </a:rPr>
              <a:t> </a:t>
            </a:r>
            <a:r>
              <a:rPr lang="id-ID" dirty="0" err="1">
                <a:ea typeface="Calibri" panose="020F0502020204030204" pitchFamily="34" charset="0"/>
                <a:cs typeface="Cordia New" panose="020B0304020202020204" pitchFamily="34" charset="-34"/>
              </a:rPr>
              <a:t>the</a:t>
            </a:r>
            <a:r>
              <a:rPr lang="id-ID" dirty="0">
                <a:ea typeface="Calibri" panose="020F0502020204030204" pitchFamily="34" charset="0"/>
                <a:cs typeface="Cordia New" panose="020B0304020202020204" pitchFamily="34" charset="-34"/>
              </a:rPr>
              <a:t> </a:t>
            </a:r>
            <a:r>
              <a:rPr lang="id-ID" dirty="0" err="1">
                <a:ea typeface="Calibri" panose="020F0502020204030204" pitchFamily="34" charset="0"/>
                <a:cs typeface="Cordia New" panose="020B0304020202020204" pitchFamily="34" charset="-34"/>
              </a:rPr>
              <a:t>Customer</a:t>
            </a:r>
            <a:r>
              <a:rPr lang="id-ID" dirty="0">
                <a:ea typeface="Calibri" panose="020F0502020204030204" pitchFamily="34" charset="0"/>
                <a:cs typeface="Cordia New" panose="020B0304020202020204" pitchFamily="34" charset="-34"/>
              </a:rPr>
              <a:t> </a:t>
            </a:r>
            <a:r>
              <a:rPr lang="id-ID" dirty="0" err="1">
                <a:ea typeface="Calibri" panose="020F0502020204030204" pitchFamily="34" charset="0"/>
                <a:cs typeface="Cordia New" panose="020B0304020202020204" pitchFamily="34" charset="-34"/>
              </a:rPr>
              <a:t>Dashboard</a:t>
            </a:r>
            <a:r>
              <a:rPr lang="id-ID" dirty="0">
                <a:ea typeface="Calibri" panose="020F0502020204030204" pitchFamily="34" charset="0"/>
                <a:cs typeface="Cordia New" panose="020B0304020202020204" pitchFamily="34" charset="-34"/>
              </a:rPr>
              <a:t>.</a:t>
            </a:r>
            <a:endParaRPr lang="id-ID" dirty="0"/>
          </a:p>
        </p:txBody>
      </p:sp>
      <p:sp>
        <p:nvSpPr>
          <p:cNvPr id="8" name="Tampungan Konten 2">
            <a:extLst>
              <a:ext uri="{FF2B5EF4-FFF2-40B4-BE49-F238E27FC236}">
                <a16:creationId xmlns:a16="http://schemas.microsoft.com/office/drawing/2014/main" id="{6466AEC8-AB76-549D-3E99-C210BADCF300}"/>
              </a:ext>
            </a:extLst>
          </p:cNvPr>
          <p:cNvSpPr txBox="1">
            <a:spLocks/>
          </p:cNvSpPr>
          <p:nvPr/>
        </p:nvSpPr>
        <p:spPr>
          <a:xfrm>
            <a:off x="2734573" y="4885419"/>
            <a:ext cx="6262777" cy="1485899"/>
          </a:xfrm>
          <a:prstGeom prst="rect">
            <a:avLst/>
          </a:prstGeom>
        </p:spPr>
        <p:txBody>
          <a:bodyPr vert="horz" lIns="91440" tIns="45720" rIns="91440" bIns="45720" rtlCol="0">
            <a:normAutofit fontScale="77500" lnSpcReduction="2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20000"/>
              </a:lnSpc>
              <a:buFont typeface="Franklin Gothic Book" panose="020B0503020102020204" pitchFamily="34" charset="0"/>
              <a:buNone/>
            </a:pPr>
            <a:r>
              <a:rPr lang="id-ID" sz="5200" dirty="0">
                <a:latin typeface="Franklin Gothic Medium" panose="020B0603020102020204" pitchFamily="34" charset="0"/>
              </a:rPr>
              <a:t>Filter </a:t>
            </a:r>
            <a:r>
              <a:rPr lang="id-ID" sz="5200" dirty="0" err="1">
                <a:latin typeface="Franklin Gothic Medium" panose="020B0603020102020204" pitchFamily="34" charset="0"/>
              </a:rPr>
              <a:t>Button</a:t>
            </a:r>
            <a:endParaRPr lang="id-ID" sz="5200" dirty="0">
              <a:latin typeface="Franklin Gothic Medium" panose="020B0603020102020204" pitchFamily="34" charset="0"/>
            </a:endParaRPr>
          </a:p>
          <a:p>
            <a:pPr marL="0" indent="0" algn="just">
              <a:lnSpc>
                <a:spcPct val="120000"/>
              </a:lnSpc>
              <a:buFont typeface="Franklin Gothic Book" panose="020B0503020102020204" pitchFamily="34" charset="0"/>
              <a:buNone/>
            </a:pPr>
            <a:r>
              <a:rPr lang="id-ID" sz="2600" dirty="0" err="1">
                <a:effectLst/>
                <a:ea typeface="Calibri" panose="020F0502020204030204" pitchFamily="34" charset="0"/>
                <a:cs typeface="Cordia New" panose="020B0304020202020204" pitchFamily="34" charset="-34"/>
              </a:rPr>
              <a:t>This</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button</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displays</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several</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filters</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that</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allow</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users</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to</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adjust</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the</a:t>
            </a:r>
            <a:r>
              <a:rPr lang="id-ID" sz="2600" dirty="0">
                <a:effectLst/>
                <a:ea typeface="Calibri" panose="020F0502020204030204" pitchFamily="34" charset="0"/>
                <a:cs typeface="Cordia New" panose="020B0304020202020204" pitchFamily="34" charset="-34"/>
              </a:rPr>
              <a:t> data </a:t>
            </a:r>
            <a:r>
              <a:rPr lang="id-ID" sz="2600" dirty="0" err="1">
                <a:effectLst/>
                <a:ea typeface="Calibri" panose="020F0502020204030204" pitchFamily="34" charset="0"/>
                <a:cs typeface="Cordia New" panose="020B0304020202020204" pitchFamily="34" charset="-34"/>
              </a:rPr>
              <a:t>display</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based</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on</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their</a:t>
            </a:r>
            <a:r>
              <a:rPr lang="id-ID" sz="2600" dirty="0">
                <a:effectLst/>
                <a:ea typeface="Calibri" panose="020F0502020204030204" pitchFamily="34" charset="0"/>
                <a:cs typeface="Cordia New" panose="020B0304020202020204" pitchFamily="34" charset="-34"/>
              </a:rPr>
              <a:t> </a:t>
            </a:r>
            <a:r>
              <a:rPr lang="id-ID" sz="2600" dirty="0" err="1">
                <a:effectLst/>
                <a:ea typeface="Calibri" panose="020F0502020204030204" pitchFamily="34" charset="0"/>
                <a:cs typeface="Cordia New" panose="020B0304020202020204" pitchFamily="34" charset="-34"/>
              </a:rPr>
              <a:t>selections</a:t>
            </a:r>
            <a:r>
              <a:rPr lang="id-ID" sz="2600" dirty="0">
                <a:effectLst/>
                <a:ea typeface="Calibri" panose="020F0502020204030204" pitchFamily="34" charset="0"/>
                <a:cs typeface="Cordia New" panose="020B0304020202020204" pitchFamily="34" charset="-34"/>
              </a:rPr>
              <a:t>.</a:t>
            </a:r>
            <a:endParaRPr lang="id-ID" sz="3000" dirty="0"/>
          </a:p>
        </p:txBody>
      </p:sp>
      <p:sp>
        <p:nvSpPr>
          <p:cNvPr id="9" name="Persegi Panjang 8">
            <a:extLst>
              <a:ext uri="{FF2B5EF4-FFF2-40B4-BE49-F238E27FC236}">
                <a16:creationId xmlns:a16="http://schemas.microsoft.com/office/drawing/2014/main" id="{D7D27911-DB41-E856-F009-95747D95F4B1}"/>
              </a:ext>
            </a:extLst>
          </p:cNvPr>
          <p:cNvSpPr/>
          <p:nvPr/>
        </p:nvSpPr>
        <p:spPr>
          <a:xfrm>
            <a:off x="1415831" y="3173634"/>
            <a:ext cx="7200000" cy="72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Persegi Panjang 9">
            <a:extLst>
              <a:ext uri="{FF2B5EF4-FFF2-40B4-BE49-F238E27FC236}">
                <a16:creationId xmlns:a16="http://schemas.microsoft.com/office/drawing/2014/main" id="{31806761-A04E-F68E-96CF-2FA7E3B371BF}"/>
              </a:ext>
            </a:extLst>
          </p:cNvPr>
          <p:cNvSpPr/>
          <p:nvPr/>
        </p:nvSpPr>
        <p:spPr>
          <a:xfrm>
            <a:off x="2967486" y="4681300"/>
            <a:ext cx="7776000" cy="72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Persegi Panjang 10">
            <a:extLst>
              <a:ext uri="{FF2B5EF4-FFF2-40B4-BE49-F238E27FC236}">
                <a16:creationId xmlns:a16="http://schemas.microsoft.com/office/drawing/2014/main" id="{75DB5ED9-2D2A-2CC6-F9A8-5055E3684BDA}"/>
              </a:ext>
            </a:extLst>
          </p:cNvPr>
          <p:cNvSpPr/>
          <p:nvPr/>
        </p:nvSpPr>
        <p:spPr>
          <a:xfrm>
            <a:off x="1424463" y="6466002"/>
            <a:ext cx="7740000" cy="108000"/>
          </a:xfrm>
          <a:prstGeom prst="rect">
            <a:avLst/>
          </a:prstGeom>
          <a:solidFill>
            <a:srgbClr val="F5F5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9046562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Judul 1">
            <a:extLst>
              <a:ext uri="{FF2B5EF4-FFF2-40B4-BE49-F238E27FC236}">
                <a16:creationId xmlns:a16="http://schemas.microsoft.com/office/drawing/2014/main" id="{384408B9-9F0C-B2D8-13D4-47B620946662}"/>
              </a:ext>
            </a:extLst>
          </p:cNvPr>
          <p:cNvSpPr>
            <a:spLocks noGrp="1"/>
          </p:cNvSpPr>
          <p:nvPr>
            <p:ph type="title"/>
          </p:nvPr>
        </p:nvSpPr>
        <p:spPr>
          <a:xfrm>
            <a:off x="3118881" y="3061446"/>
            <a:ext cx="7400260" cy="735107"/>
          </a:xfrm>
        </p:spPr>
        <p:txBody>
          <a:bodyPr>
            <a:normAutofit/>
          </a:bodyPr>
          <a:lstStyle/>
          <a:p>
            <a:pPr algn="ctr"/>
            <a:r>
              <a:rPr lang="id-ID" dirty="0">
                <a:latin typeface="Franklin Gothic Medium" panose="020B0603020102020204" pitchFamily="34" charset="0"/>
              </a:rPr>
              <a:t>SALES DASHBOARD CONTENT</a:t>
            </a:r>
          </a:p>
        </p:txBody>
      </p:sp>
      <p:pic>
        <p:nvPicPr>
          <p:cNvPr id="15" name="Gambar 14">
            <a:extLst>
              <a:ext uri="{FF2B5EF4-FFF2-40B4-BE49-F238E27FC236}">
                <a16:creationId xmlns:a16="http://schemas.microsoft.com/office/drawing/2014/main" id="{AA5FAD5C-26AE-9063-08CB-3353C1184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576" y="2881424"/>
            <a:ext cx="1102379" cy="1095150"/>
          </a:xfrm>
          <a:prstGeom prst="rect">
            <a:avLst/>
          </a:prstGeom>
        </p:spPr>
      </p:pic>
    </p:spTree>
    <p:extLst>
      <p:ext uri="{BB962C8B-B14F-4D97-AF65-F5344CB8AC3E}">
        <p14:creationId xmlns:p14="http://schemas.microsoft.com/office/powerpoint/2010/main" val="41269739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ambar 14">
            <a:extLst>
              <a:ext uri="{FF2B5EF4-FFF2-40B4-BE49-F238E27FC236}">
                <a16:creationId xmlns:a16="http://schemas.microsoft.com/office/drawing/2014/main" id="{9A75F52C-7C2C-0DD0-B2DB-8F904156CC44}"/>
              </a:ext>
            </a:extLst>
          </p:cNvPr>
          <p:cNvPicPr>
            <a:picLocks noChangeAspect="1"/>
          </p:cNvPicPr>
          <p:nvPr/>
        </p:nvPicPr>
        <p:blipFill>
          <a:blip r:embed="rId2"/>
          <a:stretch>
            <a:fillRect/>
          </a:stretch>
        </p:blipFill>
        <p:spPr>
          <a:xfrm>
            <a:off x="9342288" y="-2712592"/>
            <a:ext cx="2520000" cy="1664065"/>
          </a:xfrm>
          <a:prstGeom prst="roundRect">
            <a:avLst/>
          </a:prstGeom>
        </p:spPr>
      </p:pic>
      <p:sp>
        <p:nvSpPr>
          <p:cNvPr id="2" name="Judul 1">
            <a:extLst>
              <a:ext uri="{FF2B5EF4-FFF2-40B4-BE49-F238E27FC236}">
                <a16:creationId xmlns:a16="http://schemas.microsoft.com/office/drawing/2014/main" id="{51F92A34-EDD7-0C77-127B-6B0793C84E36}"/>
              </a:ext>
            </a:extLst>
          </p:cNvPr>
          <p:cNvSpPr>
            <a:spLocks noGrp="1"/>
          </p:cNvSpPr>
          <p:nvPr>
            <p:ph type="title"/>
          </p:nvPr>
        </p:nvSpPr>
        <p:spPr>
          <a:xfrm>
            <a:off x="1063258" y="530167"/>
            <a:ext cx="7400260" cy="735107"/>
          </a:xfrm>
        </p:spPr>
        <p:txBody>
          <a:bodyPr>
            <a:normAutofit/>
          </a:bodyPr>
          <a:lstStyle/>
          <a:p>
            <a:pPr algn="ctr"/>
            <a:r>
              <a:rPr lang="id-ID" dirty="0">
                <a:latin typeface="Franklin Gothic Medium" panose="020B0603020102020204" pitchFamily="34" charset="0"/>
              </a:rPr>
              <a:t>SALES DASHBOARD CONTENT</a:t>
            </a:r>
          </a:p>
        </p:txBody>
      </p:sp>
      <p:sp>
        <p:nvSpPr>
          <p:cNvPr id="16" name="Tampungan Konten 2">
            <a:extLst>
              <a:ext uri="{FF2B5EF4-FFF2-40B4-BE49-F238E27FC236}">
                <a16:creationId xmlns:a16="http://schemas.microsoft.com/office/drawing/2014/main" id="{1EE59652-34DB-E68E-C501-5B039608CCF4}"/>
              </a:ext>
            </a:extLst>
          </p:cNvPr>
          <p:cNvSpPr txBox="1">
            <a:spLocks/>
          </p:cNvSpPr>
          <p:nvPr/>
        </p:nvSpPr>
        <p:spPr>
          <a:xfrm>
            <a:off x="1061056" y="3111415"/>
            <a:ext cx="4931932" cy="210550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total sales, the increase/decrease in sales compared to the previous year (YoY), and the monthly sales trend between the year selected by the user and the previous year.</a:t>
            </a:r>
            <a:endParaRPr lang="id-ID" sz="2200" dirty="0"/>
          </a:p>
        </p:txBody>
      </p:sp>
      <p:sp>
        <p:nvSpPr>
          <p:cNvPr id="17" name="Tampungan Konten 2">
            <a:extLst>
              <a:ext uri="{FF2B5EF4-FFF2-40B4-BE49-F238E27FC236}">
                <a16:creationId xmlns:a16="http://schemas.microsoft.com/office/drawing/2014/main" id="{09B03117-2534-23A3-667F-C51D89117477}"/>
              </a:ext>
            </a:extLst>
          </p:cNvPr>
          <p:cNvSpPr txBox="1">
            <a:spLocks/>
          </p:cNvSpPr>
          <p:nvPr/>
        </p:nvSpPr>
        <p:spPr>
          <a:xfrm>
            <a:off x="1061056" y="2212804"/>
            <a:ext cx="4643884" cy="89861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id-ID" sz="4300" dirty="0">
                <a:latin typeface="Franklin Gothic Medium" panose="020B0603020102020204" pitchFamily="34" charset="0"/>
              </a:rPr>
              <a:t>Total </a:t>
            </a:r>
            <a:r>
              <a:rPr lang="id-ID" sz="4300" dirty="0" err="1">
                <a:latin typeface="Franklin Gothic Medium" panose="020B0603020102020204" pitchFamily="34" charset="0"/>
              </a:rPr>
              <a:t>Sales</a:t>
            </a:r>
            <a:r>
              <a:rPr lang="id-ID" sz="4300" dirty="0">
                <a:latin typeface="Franklin Gothic Medium" panose="020B0603020102020204" pitchFamily="34" charset="0"/>
              </a:rPr>
              <a:t>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pic>
        <p:nvPicPr>
          <p:cNvPr id="5" name="Gambar 4">
            <a:extLst>
              <a:ext uri="{FF2B5EF4-FFF2-40B4-BE49-F238E27FC236}">
                <a16:creationId xmlns:a16="http://schemas.microsoft.com/office/drawing/2014/main" id="{DA272536-7E31-8156-CCDC-174F6FF9BDC7}"/>
              </a:ext>
            </a:extLst>
          </p:cNvPr>
          <p:cNvPicPr>
            <a:picLocks noChangeAspect="1"/>
          </p:cNvPicPr>
          <p:nvPr/>
        </p:nvPicPr>
        <p:blipFill>
          <a:blip r:embed="rId3"/>
          <a:stretch>
            <a:fillRect/>
          </a:stretch>
        </p:blipFill>
        <p:spPr>
          <a:xfrm>
            <a:off x="9342288" y="-721167"/>
            <a:ext cx="2520000" cy="1445482"/>
          </a:xfrm>
          <a:prstGeom prst="roundRect">
            <a:avLst/>
          </a:prstGeom>
        </p:spPr>
      </p:pic>
      <p:pic>
        <p:nvPicPr>
          <p:cNvPr id="6" name="Gambar 5">
            <a:extLst>
              <a:ext uri="{FF2B5EF4-FFF2-40B4-BE49-F238E27FC236}">
                <a16:creationId xmlns:a16="http://schemas.microsoft.com/office/drawing/2014/main" id="{EE2C29EB-8EAE-9AC3-4A2C-BC7EF6D19A9B}"/>
              </a:ext>
            </a:extLst>
          </p:cNvPr>
          <p:cNvPicPr>
            <a:picLocks noChangeAspect="1"/>
          </p:cNvPicPr>
          <p:nvPr/>
        </p:nvPicPr>
        <p:blipFill>
          <a:blip r:embed="rId4"/>
          <a:stretch>
            <a:fillRect/>
          </a:stretch>
        </p:blipFill>
        <p:spPr>
          <a:xfrm>
            <a:off x="6822288" y="1998157"/>
            <a:ext cx="5040000" cy="3277428"/>
          </a:xfrm>
          <a:prstGeom prst="roundRect">
            <a:avLst/>
          </a:prstGeom>
        </p:spPr>
      </p:pic>
      <p:pic>
        <p:nvPicPr>
          <p:cNvPr id="7" name="Gambar 6">
            <a:extLst>
              <a:ext uri="{FF2B5EF4-FFF2-40B4-BE49-F238E27FC236}">
                <a16:creationId xmlns:a16="http://schemas.microsoft.com/office/drawing/2014/main" id="{63CB4D75-7CB7-0CD5-AEF8-B31B7416A287}"/>
              </a:ext>
            </a:extLst>
          </p:cNvPr>
          <p:cNvPicPr>
            <a:picLocks noChangeAspect="1"/>
          </p:cNvPicPr>
          <p:nvPr/>
        </p:nvPicPr>
        <p:blipFill>
          <a:blip r:embed="rId5"/>
          <a:stretch>
            <a:fillRect/>
          </a:stretch>
        </p:blipFill>
        <p:spPr>
          <a:xfrm>
            <a:off x="9342288" y="-6446843"/>
            <a:ext cx="2520000" cy="1652696"/>
          </a:xfrm>
          <a:prstGeom prst="roundRect">
            <a:avLst/>
          </a:prstGeom>
        </p:spPr>
      </p:pic>
      <p:pic>
        <p:nvPicPr>
          <p:cNvPr id="9" name="Gambar 8">
            <a:extLst>
              <a:ext uri="{FF2B5EF4-FFF2-40B4-BE49-F238E27FC236}">
                <a16:creationId xmlns:a16="http://schemas.microsoft.com/office/drawing/2014/main" id="{613FD319-024A-EADC-AE3C-220EEF4AEF6F}"/>
              </a:ext>
            </a:extLst>
          </p:cNvPr>
          <p:cNvPicPr>
            <a:picLocks noChangeAspect="1"/>
          </p:cNvPicPr>
          <p:nvPr/>
        </p:nvPicPr>
        <p:blipFill>
          <a:blip r:embed="rId6"/>
          <a:stretch>
            <a:fillRect/>
          </a:stretch>
        </p:blipFill>
        <p:spPr>
          <a:xfrm>
            <a:off x="9342288" y="-4466787"/>
            <a:ext cx="2520000" cy="1426835"/>
          </a:xfrm>
          <a:prstGeom prst="roundRect">
            <a:avLst/>
          </a:prstGeom>
        </p:spPr>
      </p:pic>
      <p:sp>
        <p:nvSpPr>
          <p:cNvPr id="10" name="Persegi Panjang 9">
            <a:extLst>
              <a:ext uri="{FF2B5EF4-FFF2-40B4-BE49-F238E27FC236}">
                <a16:creationId xmlns:a16="http://schemas.microsoft.com/office/drawing/2014/main" id="{E6A5E22E-9D61-7DF4-C522-ED8B0CCCA1E2}"/>
              </a:ext>
            </a:extLst>
          </p:cNvPr>
          <p:cNvSpPr/>
          <p:nvPr/>
        </p:nvSpPr>
        <p:spPr>
          <a:xfrm>
            <a:off x="1106776" y="2923004"/>
            <a:ext cx="4716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11" name="Gambar 10">
            <a:extLst>
              <a:ext uri="{FF2B5EF4-FFF2-40B4-BE49-F238E27FC236}">
                <a16:creationId xmlns:a16="http://schemas.microsoft.com/office/drawing/2014/main" id="{7255A3B9-8593-EBD0-C116-C2D5C73CF4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0743" y="553991"/>
            <a:ext cx="662462" cy="658118"/>
          </a:xfrm>
          <a:prstGeom prst="rect">
            <a:avLst/>
          </a:prstGeom>
        </p:spPr>
      </p:pic>
    </p:spTree>
    <p:extLst>
      <p:ext uri="{BB962C8B-B14F-4D97-AF65-F5344CB8AC3E}">
        <p14:creationId xmlns:p14="http://schemas.microsoft.com/office/powerpoint/2010/main" val="41256996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ambar 14">
            <a:extLst>
              <a:ext uri="{FF2B5EF4-FFF2-40B4-BE49-F238E27FC236}">
                <a16:creationId xmlns:a16="http://schemas.microsoft.com/office/drawing/2014/main" id="{9A75F52C-7C2C-0DD0-B2DB-8F904156CC44}"/>
              </a:ext>
            </a:extLst>
          </p:cNvPr>
          <p:cNvPicPr>
            <a:picLocks noChangeAspect="1"/>
          </p:cNvPicPr>
          <p:nvPr/>
        </p:nvPicPr>
        <p:blipFill>
          <a:blip r:embed="rId2"/>
          <a:stretch>
            <a:fillRect/>
          </a:stretch>
        </p:blipFill>
        <p:spPr>
          <a:xfrm>
            <a:off x="9342288" y="-851709"/>
            <a:ext cx="2520000" cy="1664065"/>
          </a:xfrm>
          <a:prstGeom prst="roundRect">
            <a:avLst/>
          </a:prstGeom>
        </p:spPr>
      </p:pic>
      <p:pic>
        <p:nvPicPr>
          <p:cNvPr id="5" name="Gambar 4">
            <a:extLst>
              <a:ext uri="{FF2B5EF4-FFF2-40B4-BE49-F238E27FC236}">
                <a16:creationId xmlns:a16="http://schemas.microsoft.com/office/drawing/2014/main" id="{DA272536-7E31-8156-CCDC-174F6FF9BDC7}"/>
              </a:ext>
            </a:extLst>
          </p:cNvPr>
          <p:cNvPicPr>
            <a:picLocks noChangeAspect="1"/>
          </p:cNvPicPr>
          <p:nvPr/>
        </p:nvPicPr>
        <p:blipFill>
          <a:blip r:embed="rId3"/>
          <a:stretch>
            <a:fillRect/>
          </a:stretch>
        </p:blipFill>
        <p:spPr>
          <a:xfrm>
            <a:off x="6822288" y="2010689"/>
            <a:ext cx="5040000" cy="2890964"/>
          </a:xfrm>
          <a:prstGeom prst="roundRect">
            <a:avLst/>
          </a:prstGeom>
        </p:spPr>
      </p:pic>
      <p:pic>
        <p:nvPicPr>
          <p:cNvPr id="6" name="Gambar 5">
            <a:extLst>
              <a:ext uri="{FF2B5EF4-FFF2-40B4-BE49-F238E27FC236}">
                <a16:creationId xmlns:a16="http://schemas.microsoft.com/office/drawing/2014/main" id="{EE2C29EB-8EAE-9AC3-4A2C-BC7EF6D19A9B}"/>
              </a:ext>
            </a:extLst>
          </p:cNvPr>
          <p:cNvPicPr>
            <a:picLocks noChangeAspect="1"/>
          </p:cNvPicPr>
          <p:nvPr/>
        </p:nvPicPr>
        <p:blipFill>
          <a:blip r:embed="rId4"/>
          <a:stretch>
            <a:fillRect/>
          </a:stretch>
        </p:blipFill>
        <p:spPr>
          <a:xfrm>
            <a:off x="9342288" y="6035818"/>
            <a:ext cx="2520000" cy="1638714"/>
          </a:xfrm>
          <a:prstGeom prst="roundRect">
            <a:avLst/>
          </a:prstGeom>
        </p:spPr>
      </p:pic>
      <p:pic>
        <p:nvPicPr>
          <p:cNvPr id="7" name="Gambar 6">
            <a:extLst>
              <a:ext uri="{FF2B5EF4-FFF2-40B4-BE49-F238E27FC236}">
                <a16:creationId xmlns:a16="http://schemas.microsoft.com/office/drawing/2014/main" id="{63CB4D75-7CB7-0CD5-AEF8-B31B7416A287}"/>
              </a:ext>
            </a:extLst>
          </p:cNvPr>
          <p:cNvPicPr>
            <a:picLocks noChangeAspect="1"/>
          </p:cNvPicPr>
          <p:nvPr/>
        </p:nvPicPr>
        <p:blipFill>
          <a:blip r:embed="rId5"/>
          <a:stretch>
            <a:fillRect/>
          </a:stretch>
        </p:blipFill>
        <p:spPr>
          <a:xfrm>
            <a:off x="9342288" y="-4585960"/>
            <a:ext cx="2520000" cy="1652696"/>
          </a:xfrm>
          <a:prstGeom prst="roundRect">
            <a:avLst/>
          </a:prstGeom>
        </p:spPr>
      </p:pic>
      <p:pic>
        <p:nvPicPr>
          <p:cNvPr id="9" name="Gambar 8">
            <a:extLst>
              <a:ext uri="{FF2B5EF4-FFF2-40B4-BE49-F238E27FC236}">
                <a16:creationId xmlns:a16="http://schemas.microsoft.com/office/drawing/2014/main" id="{613FD319-024A-EADC-AE3C-220EEF4AEF6F}"/>
              </a:ext>
            </a:extLst>
          </p:cNvPr>
          <p:cNvPicPr>
            <a:picLocks noChangeAspect="1"/>
          </p:cNvPicPr>
          <p:nvPr/>
        </p:nvPicPr>
        <p:blipFill>
          <a:blip r:embed="rId6"/>
          <a:stretch>
            <a:fillRect/>
          </a:stretch>
        </p:blipFill>
        <p:spPr>
          <a:xfrm>
            <a:off x="9342288" y="-2605904"/>
            <a:ext cx="2520000" cy="1426835"/>
          </a:xfrm>
          <a:prstGeom prst="roundRect">
            <a:avLst/>
          </a:prstGeom>
        </p:spPr>
      </p:pic>
      <p:sp>
        <p:nvSpPr>
          <p:cNvPr id="14" name="Judul 1">
            <a:extLst>
              <a:ext uri="{FF2B5EF4-FFF2-40B4-BE49-F238E27FC236}">
                <a16:creationId xmlns:a16="http://schemas.microsoft.com/office/drawing/2014/main" id="{5BA7EC58-B359-BD13-3B67-8216D9C380E6}"/>
              </a:ext>
            </a:extLst>
          </p:cNvPr>
          <p:cNvSpPr>
            <a:spLocks noGrp="1"/>
          </p:cNvSpPr>
          <p:nvPr>
            <p:ph type="title"/>
          </p:nvPr>
        </p:nvSpPr>
        <p:spPr>
          <a:xfrm>
            <a:off x="1063258" y="530167"/>
            <a:ext cx="7400260" cy="735107"/>
          </a:xfrm>
        </p:spPr>
        <p:txBody>
          <a:bodyPr>
            <a:normAutofit/>
          </a:bodyPr>
          <a:lstStyle/>
          <a:p>
            <a:pPr algn="ctr"/>
            <a:r>
              <a:rPr lang="id-ID" dirty="0">
                <a:latin typeface="Franklin Gothic Medium" panose="020B0603020102020204" pitchFamily="34" charset="0"/>
              </a:rPr>
              <a:t>SALES DASHBOARD CONTENT</a:t>
            </a:r>
          </a:p>
        </p:txBody>
      </p:sp>
      <p:sp>
        <p:nvSpPr>
          <p:cNvPr id="18" name="Tampungan Konten 2">
            <a:extLst>
              <a:ext uri="{FF2B5EF4-FFF2-40B4-BE49-F238E27FC236}">
                <a16:creationId xmlns:a16="http://schemas.microsoft.com/office/drawing/2014/main" id="{770D4D84-DA4A-6200-87C4-16320FF24233}"/>
              </a:ext>
            </a:extLst>
          </p:cNvPr>
          <p:cNvSpPr txBox="1">
            <a:spLocks/>
          </p:cNvSpPr>
          <p:nvPr/>
        </p:nvSpPr>
        <p:spPr>
          <a:xfrm>
            <a:off x="1061056" y="3111415"/>
            <a:ext cx="4931932" cy="2105506"/>
          </a:xfrm>
          <a:prstGeom prst="rect">
            <a:avLst/>
          </a:prstGeom>
        </p:spPr>
        <p:txBody>
          <a:bodyPr vert="horz" lIns="91440" tIns="45720" rIns="91440" bIns="45720" rtlCol="0">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displays the total sales by subcategory between the year selected by the user and the previous year, as well as the total profit/loss by subcategory for the year selected by the user.</a:t>
            </a:r>
            <a:endParaRPr lang="id-ID" sz="2200" dirty="0"/>
          </a:p>
        </p:txBody>
      </p:sp>
      <p:sp>
        <p:nvSpPr>
          <p:cNvPr id="19" name="Tampungan Konten 2">
            <a:extLst>
              <a:ext uri="{FF2B5EF4-FFF2-40B4-BE49-F238E27FC236}">
                <a16:creationId xmlns:a16="http://schemas.microsoft.com/office/drawing/2014/main" id="{BE8DCFEA-A388-65EC-3595-71F8CBD0F888}"/>
              </a:ext>
            </a:extLst>
          </p:cNvPr>
          <p:cNvSpPr txBox="1">
            <a:spLocks/>
          </p:cNvSpPr>
          <p:nvPr/>
        </p:nvSpPr>
        <p:spPr>
          <a:xfrm>
            <a:off x="1061056" y="1645076"/>
            <a:ext cx="4761720" cy="1657731"/>
          </a:xfrm>
          <a:prstGeom prst="rect">
            <a:avLst/>
          </a:prstGeom>
        </p:spPr>
        <p:txBody>
          <a:bodyPr vert="horz" lIns="91440" tIns="45720" rIns="91440" bIns="45720" rtlCol="0">
            <a:normAutofit fontScale="925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00000"/>
              </a:lnSpc>
              <a:buFont typeface="Franklin Gothic Book" panose="020B0503020102020204" pitchFamily="34" charset="0"/>
              <a:buNone/>
            </a:pPr>
            <a:r>
              <a:rPr lang="id-ID" sz="4300" dirty="0" err="1">
                <a:latin typeface="Franklin Gothic Medium" panose="020B0603020102020204" pitchFamily="34" charset="0"/>
              </a:rPr>
              <a:t>Sales</a:t>
            </a:r>
            <a:r>
              <a:rPr lang="id-ID" sz="4300" dirty="0">
                <a:latin typeface="Franklin Gothic Medium" panose="020B0603020102020204" pitchFamily="34" charset="0"/>
              </a:rPr>
              <a:t> &amp; Profit </a:t>
            </a:r>
            <a:r>
              <a:rPr lang="id-ID" sz="4300" dirty="0" err="1">
                <a:latin typeface="Franklin Gothic Medium" panose="020B0603020102020204" pitchFamily="34" charset="0"/>
              </a:rPr>
              <a:t>by</a:t>
            </a:r>
            <a:r>
              <a:rPr lang="id-ID" sz="4300" dirty="0">
                <a:latin typeface="Franklin Gothic Medium" panose="020B0603020102020204" pitchFamily="34" charset="0"/>
              </a:rPr>
              <a:t> </a:t>
            </a:r>
            <a:r>
              <a:rPr lang="id-ID" sz="4300" dirty="0" err="1">
                <a:latin typeface="Franklin Gothic Medium" panose="020B0603020102020204" pitchFamily="34" charset="0"/>
              </a:rPr>
              <a:t>Subcategory</a:t>
            </a:r>
            <a:r>
              <a:rPr lang="id-ID" sz="4300" dirty="0">
                <a:latin typeface="Franklin Gothic Medium" panose="020B0603020102020204" pitchFamily="34" charset="0"/>
              </a:rPr>
              <a:t>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sp>
        <p:nvSpPr>
          <p:cNvPr id="20" name="Persegi Panjang 19">
            <a:extLst>
              <a:ext uri="{FF2B5EF4-FFF2-40B4-BE49-F238E27FC236}">
                <a16:creationId xmlns:a16="http://schemas.microsoft.com/office/drawing/2014/main" id="{DF2556AB-CB90-D4B0-533B-5D03E6E5AAE9}"/>
              </a:ext>
            </a:extLst>
          </p:cNvPr>
          <p:cNvSpPr/>
          <p:nvPr/>
        </p:nvSpPr>
        <p:spPr>
          <a:xfrm>
            <a:off x="1106776" y="2923004"/>
            <a:ext cx="4716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21" name="Gambar 20">
            <a:extLst>
              <a:ext uri="{FF2B5EF4-FFF2-40B4-BE49-F238E27FC236}">
                <a16:creationId xmlns:a16="http://schemas.microsoft.com/office/drawing/2014/main" id="{C66D3743-1F00-2E8E-2932-70194BA8CA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0743" y="553991"/>
            <a:ext cx="662462" cy="658118"/>
          </a:xfrm>
          <a:prstGeom prst="rect">
            <a:avLst/>
          </a:prstGeom>
        </p:spPr>
      </p:pic>
    </p:spTree>
    <p:extLst>
      <p:ext uri="{BB962C8B-B14F-4D97-AF65-F5344CB8AC3E}">
        <p14:creationId xmlns:p14="http://schemas.microsoft.com/office/powerpoint/2010/main" val="19367269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ambar 14">
            <a:extLst>
              <a:ext uri="{FF2B5EF4-FFF2-40B4-BE49-F238E27FC236}">
                <a16:creationId xmlns:a16="http://schemas.microsoft.com/office/drawing/2014/main" id="{9A75F52C-7C2C-0DD0-B2DB-8F904156CC44}"/>
              </a:ext>
            </a:extLst>
          </p:cNvPr>
          <p:cNvPicPr>
            <a:picLocks noChangeAspect="1"/>
          </p:cNvPicPr>
          <p:nvPr/>
        </p:nvPicPr>
        <p:blipFill>
          <a:blip r:embed="rId2"/>
          <a:stretch>
            <a:fillRect/>
          </a:stretch>
        </p:blipFill>
        <p:spPr>
          <a:xfrm>
            <a:off x="6817268" y="1999281"/>
            <a:ext cx="5040000" cy="3328130"/>
          </a:xfrm>
          <a:prstGeom prst="roundRect">
            <a:avLst/>
          </a:prstGeom>
        </p:spPr>
      </p:pic>
      <p:pic>
        <p:nvPicPr>
          <p:cNvPr id="5" name="Gambar 4">
            <a:extLst>
              <a:ext uri="{FF2B5EF4-FFF2-40B4-BE49-F238E27FC236}">
                <a16:creationId xmlns:a16="http://schemas.microsoft.com/office/drawing/2014/main" id="{DA272536-7E31-8156-CCDC-174F6FF9BDC7}"/>
              </a:ext>
            </a:extLst>
          </p:cNvPr>
          <p:cNvPicPr>
            <a:picLocks noChangeAspect="1"/>
          </p:cNvPicPr>
          <p:nvPr/>
        </p:nvPicPr>
        <p:blipFill>
          <a:blip r:embed="rId3"/>
          <a:stretch>
            <a:fillRect/>
          </a:stretch>
        </p:blipFill>
        <p:spPr>
          <a:xfrm>
            <a:off x="9337268" y="6168219"/>
            <a:ext cx="2520000" cy="1445482"/>
          </a:xfrm>
          <a:prstGeom prst="roundRect">
            <a:avLst/>
          </a:prstGeom>
        </p:spPr>
      </p:pic>
      <p:pic>
        <p:nvPicPr>
          <p:cNvPr id="6" name="Gambar 5">
            <a:extLst>
              <a:ext uri="{FF2B5EF4-FFF2-40B4-BE49-F238E27FC236}">
                <a16:creationId xmlns:a16="http://schemas.microsoft.com/office/drawing/2014/main" id="{EE2C29EB-8EAE-9AC3-4A2C-BC7EF6D19A9B}"/>
              </a:ext>
            </a:extLst>
          </p:cNvPr>
          <p:cNvPicPr>
            <a:picLocks noChangeAspect="1"/>
          </p:cNvPicPr>
          <p:nvPr/>
        </p:nvPicPr>
        <p:blipFill>
          <a:blip r:embed="rId4"/>
          <a:stretch>
            <a:fillRect/>
          </a:stretch>
        </p:blipFill>
        <p:spPr>
          <a:xfrm>
            <a:off x="9337268" y="7912747"/>
            <a:ext cx="2520000" cy="1638714"/>
          </a:xfrm>
          <a:prstGeom prst="roundRect">
            <a:avLst/>
          </a:prstGeom>
        </p:spPr>
      </p:pic>
      <p:pic>
        <p:nvPicPr>
          <p:cNvPr id="7" name="Gambar 6">
            <a:extLst>
              <a:ext uri="{FF2B5EF4-FFF2-40B4-BE49-F238E27FC236}">
                <a16:creationId xmlns:a16="http://schemas.microsoft.com/office/drawing/2014/main" id="{63CB4D75-7CB7-0CD5-AEF8-B31B7416A287}"/>
              </a:ext>
            </a:extLst>
          </p:cNvPr>
          <p:cNvPicPr>
            <a:picLocks noChangeAspect="1"/>
          </p:cNvPicPr>
          <p:nvPr/>
        </p:nvPicPr>
        <p:blipFill>
          <a:blip r:embed="rId5"/>
          <a:stretch>
            <a:fillRect/>
          </a:stretch>
        </p:blipFill>
        <p:spPr>
          <a:xfrm>
            <a:off x="9337268" y="-2709034"/>
            <a:ext cx="2520000" cy="1652696"/>
          </a:xfrm>
          <a:prstGeom prst="roundRect">
            <a:avLst/>
          </a:prstGeom>
        </p:spPr>
      </p:pic>
      <p:pic>
        <p:nvPicPr>
          <p:cNvPr id="9" name="Gambar 8">
            <a:extLst>
              <a:ext uri="{FF2B5EF4-FFF2-40B4-BE49-F238E27FC236}">
                <a16:creationId xmlns:a16="http://schemas.microsoft.com/office/drawing/2014/main" id="{613FD319-024A-EADC-AE3C-220EEF4AEF6F}"/>
              </a:ext>
            </a:extLst>
          </p:cNvPr>
          <p:cNvPicPr>
            <a:picLocks noChangeAspect="1"/>
          </p:cNvPicPr>
          <p:nvPr/>
        </p:nvPicPr>
        <p:blipFill>
          <a:blip r:embed="rId6"/>
          <a:stretch>
            <a:fillRect/>
          </a:stretch>
        </p:blipFill>
        <p:spPr>
          <a:xfrm>
            <a:off x="9337268" y="-728978"/>
            <a:ext cx="2520000" cy="1426835"/>
          </a:xfrm>
          <a:prstGeom prst="roundRect">
            <a:avLst/>
          </a:prstGeom>
        </p:spPr>
      </p:pic>
      <p:sp>
        <p:nvSpPr>
          <p:cNvPr id="10" name="Judul 1">
            <a:extLst>
              <a:ext uri="{FF2B5EF4-FFF2-40B4-BE49-F238E27FC236}">
                <a16:creationId xmlns:a16="http://schemas.microsoft.com/office/drawing/2014/main" id="{D996EE67-7B3F-18F8-41D9-A2CA8510ACB0}"/>
              </a:ext>
            </a:extLst>
          </p:cNvPr>
          <p:cNvSpPr>
            <a:spLocks noGrp="1"/>
          </p:cNvSpPr>
          <p:nvPr>
            <p:ph type="title"/>
          </p:nvPr>
        </p:nvSpPr>
        <p:spPr>
          <a:xfrm>
            <a:off x="1063258" y="530167"/>
            <a:ext cx="7400260" cy="735107"/>
          </a:xfrm>
        </p:spPr>
        <p:txBody>
          <a:bodyPr>
            <a:normAutofit/>
          </a:bodyPr>
          <a:lstStyle/>
          <a:p>
            <a:pPr algn="ctr"/>
            <a:r>
              <a:rPr lang="id-ID" dirty="0">
                <a:latin typeface="Franklin Gothic Medium" panose="020B0603020102020204" pitchFamily="34" charset="0"/>
              </a:rPr>
              <a:t>SALES DASHBOARD CONTENT</a:t>
            </a:r>
          </a:p>
        </p:txBody>
      </p:sp>
      <p:sp>
        <p:nvSpPr>
          <p:cNvPr id="11" name="Tampungan Konten 2">
            <a:extLst>
              <a:ext uri="{FF2B5EF4-FFF2-40B4-BE49-F238E27FC236}">
                <a16:creationId xmlns:a16="http://schemas.microsoft.com/office/drawing/2014/main" id="{0BB99F79-D401-E136-657A-6F5EF76CD701}"/>
              </a:ext>
            </a:extLst>
          </p:cNvPr>
          <p:cNvSpPr txBox="1">
            <a:spLocks/>
          </p:cNvSpPr>
          <p:nvPr/>
        </p:nvSpPr>
        <p:spPr>
          <a:xfrm>
            <a:off x="1061056" y="3111415"/>
            <a:ext cx="4931932" cy="210550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total profit, the increase/decrease in profit compared to the previous year (YoY), and the monthly profit trend between the year selected by the user and the previous year.</a:t>
            </a:r>
            <a:endParaRPr lang="id-ID" sz="2200" dirty="0"/>
          </a:p>
        </p:txBody>
      </p:sp>
      <p:sp>
        <p:nvSpPr>
          <p:cNvPr id="12" name="Tampungan Konten 2">
            <a:extLst>
              <a:ext uri="{FF2B5EF4-FFF2-40B4-BE49-F238E27FC236}">
                <a16:creationId xmlns:a16="http://schemas.microsoft.com/office/drawing/2014/main" id="{188D2A85-6446-250F-DD83-42CEA38815D9}"/>
              </a:ext>
            </a:extLst>
          </p:cNvPr>
          <p:cNvSpPr txBox="1">
            <a:spLocks/>
          </p:cNvSpPr>
          <p:nvPr/>
        </p:nvSpPr>
        <p:spPr>
          <a:xfrm>
            <a:off x="1061056" y="2212804"/>
            <a:ext cx="4643884" cy="89861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id-ID" sz="4300" dirty="0">
                <a:latin typeface="Franklin Gothic Medium" panose="020B0603020102020204" pitchFamily="34" charset="0"/>
              </a:rPr>
              <a:t>Total Profit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sp>
        <p:nvSpPr>
          <p:cNvPr id="13" name="Persegi Panjang 12">
            <a:extLst>
              <a:ext uri="{FF2B5EF4-FFF2-40B4-BE49-F238E27FC236}">
                <a16:creationId xmlns:a16="http://schemas.microsoft.com/office/drawing/2014/main" id="{41DEFF24-A34A-F6FC-CEC4-55122C339CC6}"/>
              </a:ext>
            </a:extLst>
          </p:cNvPr>
          <p:cNvSpPr/>
          <p:nvPr/>
        </p:nvSpPr>
        <p:spPr>
          <a:xfrm>
            <a:off x="1106776" y="2923004"/>
            <a:ext cx="4716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14" name="Gambar 13">
            <a:extLst>
              <a:ext uri="{FF2B5EF4-FFF2-40B4-BE49-F238E27FC236}">
                <a16:creationId xmlns:a16="http://schemas.microsoft.com/office/drawing/2014/main" id="{348C1576-6C78-58DC-0BED-2594E5C3C2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0743" y="553991"/>
            <a:ext cx="662462" cy="658118"/>
          </a:xfrm>
          <a:prstGeom prst="rect">
            <a:avLst/>
          </a:prstGeom>
        </p:spPr>
      </p:pic>
    </p:spTree>
    <p:extLst>
      <p:ext uri="{BB962C8B-B14F-4D97-AF65-F5344CB8AC3E}">
        <p14:creationId xmlns:p14="http://schemas.microsoft.com/office/powerpoint/2010/main" val="8060682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ambar 14">
            <a:extLst>
              <a:ext uri="{FF2B5EF4-FFF2-40B4-BE49-F238E27FC236}">
                <a16:creationId xmlns:a16="http://schemas.microsoft.com/office/drawing/2014/main" id="{9A75F52C-7C2C-0DD0-B2DB-8F904156CC44}"/>
              </a:ext>
            </a:extLst>
          </p:cNvPr>
          <p:cNvPicPr>
            <a:picLocks noChangeAspect="1"/>
          </p:cNvPicPr>
          <p:nvPr/>
        </p:nvPicPr>
        <p:blipFill>
          <a:blip r:embed="rId2"/>
          <a:stretch>
            <a:fillRect/>
          </a:stretch>
        </p:blipFill>
        <p:spPr>
          <a:xfrm>
            <a:off x="9337268" y="6033907"/>
            <a:ext cx="2520000" cy="1664065"/>
          </a:xfrm>
          <a:prstGeom prst="roundRect">
            <a:avLst/>
          </a:prstGeom>
        </p:spPr>
      </p:pic>
      <p:pic>
        <p:nvPicPr>
          <p:cNvPr id="5" name="Gambar 4">
            <a:extLst>
              <a:ext uri="{FF2B5EF4-FFF2-40B4-BE49-F238E27FC236}">
                <a16:creationId xmlns:a16="http://schemas.microsoft.com/office/drawing/2014/main" id="{DA272536-7E31-8156-CCDC-174F6FF9BDC7}"/>
              </a:ext>
            </a:extLst>
          </p:cNvPr>
          <p:cNvPicPr>
            <a:picLocks noChangeAspect="1"/>
          </p:cNvPicPr>
          <p:nvPr/>
        </p:nvPicPr>
        <p:blipFill>
          <a:blip r:embed="rId3"/>
          <a:stretch>
            <a:fillRect/>
          </a:stretch>
        </p:blipFill>
        <p:spPr>
          <a:xfrm>
            <a:off x="9337268" y="7997018"/>
            <a:ext cx="2520000" cy="1445482"/>
          </a:xfrm>
          <a:prstGeom prst="roundRect">
            <a:avLst/>
          </a:prstGeom>
        </p:spPr>
      </p:pic>
      <p:pic>
        <p:nvPicPr>
          <p:cNvPr id="6" name="Gambar 5">
            <a:extLst>
              <a:ext uri="{FF2B5EF4-FFF2-40B4-BE49-F238E27FC236}">
                <a16:creationId xmlns:a16="http://schemas.microsoft.com/office/drawing/2014/main" id="{EE2C29EB-8EAE-9AC3-4A2C-BC7EF6D19A9B}"/>
              </a:ext>
            </a:extLst>
          </p:cNvPr>
          <p:cNvPicPr>
            <a:picLocks noChangeAspect="1"/>
          </p:cNvPicPr>
          <p:nvPr/>
        </p:nvPicPr>
        <p:blipFill>
          <a:blip r:embed="rId4"/>
          <a:stretch>
            <a:fillRect/>
          </a:stretch>
        </p:blipFill>
        <p:spPr>
          <a:xfrm>
            <a:off x="9337268" y="9741546"/>
            <a:ext cx="2520000" cy="1638714"/>
          </a:xfrm>
          <a:prstGeom prst="roundRect">
            <a:avLst/>
          </a:prstGeom>
        </p:spPr>
      </p:pic>
      <p:pic>
        <p:nvPicPr>
          <p:cNvPr id="7" name="Gambar 6">
            <a:extLst>
              <a:ext uri="{FF2B5EF4-FFF2-40B4-BE49-F238E27FC236}">
                <a16:creationId xmlns:a16="http://schemas.microsoft.com/office/drawing/2014/main" id="{63CB4D75-7CB7-0CD5-AEF8-B31B7416A287}"/>
              </a:ext>
            </a:extLst>
          </p:cNvPr>
          <p:cNvPicPr>
            <a:picLocks noChangeAspect="1"/>
          </p:cNvPicPr>
          <p:nvPr/>
        </p:nvPicPr>
        <p:blipFill>
          <a:blip r:embed="rId5"/>
          <a:stretch>
            <a:fillRect/>
          </a:stretch>
        </p:blipFill>
        <p:spPr>
          <a:xfrm>
            <a:off x="9337268" y="-880237"/>
            <a:ext cx="2520000" cy="1652696"/>
          </a:xfrm>
          <a:prstGeom prst="roundRect">
            <a:avLst/>
          </a:prstGeom>
        </p:spPr>
      </p:pic>
      <p:pic>
        <p:nvPicPr>
          <p:cNvPr id="9" name="Gambar 8">
            <a:extLst>
              <a:ext uri="{FF2B5EF4-FFF2-40B4-BE49-F238E27FC236}">
                <a16:creationId xmlns:a16="http://schemas.microsoft.com/office/drawing/2014/main" id="{613FD319-024A-EADC-AE3C-220EEF4AEF6F}"/>
              </a:ext>
            </a:extLst>
          </p:cNvPr>
          <p:cNvPicPr>
            <a:picLocks noChangeAspect="1"/>
          </p:cNvPicPr>
          <p:nvPr/>
        </p:nvPicPr>
        <p:blipFill>
          <a:blip r:embed="rId6"/>
          <a:stretch>
            <a:fillRect/>
          </a:stretch>
        </p:blipFill>
        <p:spPr>
          <a:xfrm>
            <a:off x="6817268" y="2001154"/>
            <a:ext cx="5040000" cy="2853670"/>
          </a:xfrm>
          <a:prstGeom prst="roundRect">
            <a:avLst/>
          </a:prstGeom>
        </p:spPr>
      </p:pic>
      <p:sp>
        <p:nvSpPr>
          <p:cNvPr id="10" name="Judul 1">
            <a:extLst>
              <a:ext uri="{FF2B5EF4-FFF2-40B4-BE49-F238E27FC236}">
                <a16:creationId xmlns:a16="http://schemas.microsoft.com/office/drawing/2014/main" id="{A6CF1DB3-FF71-DA0B-8DEF-95FA76F7449E}"/>
              </a:ext>
            </a:extLst>
          </p:cNvPr>
          <p:cNvSpPr>
            <a:spLocks noGrp="1"/>
          </p:cNvSpPr>
          <p:nvPr>
            <p:ph type="title"/>
          </p:nvPr>
        </p:nvSpPr>
        <p:spPr>
          <a:xfrm>
            <a:off x="1063258" y="530167"/>
            <a:ext cx="7400260" cy="735107"/>
          </a:xfrm>
        </p:spPr>
        <p:txBody>
          <a:bodyPr>
            <a:normAutofit/>
          </a:bodyPr>
          <a:lstStyle/>
          <a:p>
            <a:pPr algn="ctr"/>
            <a:r>
              <a:rPr lang="id-ID" dirty="0">
                <a:latin typeface="Franklin Gothic Medium" panose="020B0603020102020204" pitchFamily="34" charset="0"/>
              </a:rPr>
              <a:t>SALES DASHBOARD CONTENT</a:t>
            </a:r>
          </a:p>
        </p:txBody>
      </p:sp>
      <p:sp>
        <p:nvSpPr>
          <p:cNvPr id="11" name="Tampungan Konten 2">
            <a:extLst>
              <a:ext uri="{FF2B5EF4-FFF2-40B4-BE49-F238E27FC236}">
                <a16:creationId xmlns:a16="http://schemas.microsoft.com/office/drawing/2014/main" id="{BDC2F0F8-4A23-26D5-5FAE-40AE44FA6C15}"/>
              </a:ext>
            </a:extLst>
          </p:cNvPr>
          <p:cNvSpPr txBox="1">
            <a:spLocks/>
          </p:cNvSpPr>
          <p:nvPr/>
        </p:nvSpPr>
        <p:spPr>
          <a:xfrm>
            <a:off x="1061056" y="3547350"/>
            <a:ext cx="4931932" cy="210550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weekly trend of sales and profit for the year selected by the user.</a:t>
            </a:r>
            <a:endParaRPr lang="id-ID" sz="2200" dirty="0"/>
          </a:p>
        </p:txBody>
      </p:sp>
      <p:sp>
        <p:nvSpPr>
          <p:cNvPr id="13" name="Persegi Panjang 12">
            <a:extLst>
              <a:ext uri="{FF2B5EF4-FFF2-40B4-BE49-F238E27FC236}">
                <a16:creationId xmlns:a16="http://schemas.microsoft.com/office/drawing/2014/main" id="{AFC20EAD-52AE-CBA2-CFCE-247CEFF8EFE3}"/>
              </a:ext>
            </a:extLst>
          </p:cNvPr>
          <p:cNvSpPr/>
          <p:nvPr/>
        </p:nvSpPr>
        <p:spPr>
          <a:xfrm>
            <a:off x="1106776" y="3358939"/>
            <a:ext cx="4716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14" name="Gambar 13">
            <a:extLst>
              <a:ext uri="{FF2B5EF4-FFF2-40B4-BE49-F238E27FC236}">
                <a16:creationId xmlns:a16="http://schemas.microsoft.com/office/drawing/2014/main" id="{84301F7A-7147-6105-E24A-D23A28A2AD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0743" y="553991"/>
            <a:ext cx="662462" cy="658118"/>
          </a:xfrm>
          <a:prstGeom prst="rect">
            <a:avLst/>
          </a:prstGeom>
        </p:spPr>
      </p:pic>
      <p:sp>
        <p:nvSpPr>
          <p:cNvPr id="18" name="Tampungan Konten 2">
            <a:extLst>
              <a:ext uri="{FF2B5EF4-FFF2-40B4-BE49-F238E27FC236}">
                <a16:creationId xmlns:a16="http://schemas.microsoft.com/office/drawing/2014/main" id="{ED76CB7F-E667-F6C1-8F37-CAAB3D0BE256}"/>
              </a:ext>
            </a:extLst>
          </p:cNvPr>
          <p:cNvSpPr txBox="1">
            <a:spLocks/>
          </p:cNvSpPr>
          <p:nvPr/>
        </p:nvSpPr>
        <p:spPr>
          <a:xfrm>
            <a:off x="1061056" y="2081011"/>
            <a:ext cx="4761720" cy="165773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00000"/>
              </a:lnSpc>
              <a:buFont typeface="Franklin Gothic Book" panose="020B0503020102020204" pitchFamily="34" charset="0"/>
              <a:buNone/>
            </a:pPr>
            <a:r>
              <a:rPr lang="id-ID" sz="4300" dirty="0" err="1">
                <a:latin typeface="Franklin Gothic Medium" panose="020B0603020102020204" pitchFamily="34" charset="0"/>
              </a:rPr>
              <a:t>Weekly</a:t>
            </a:r>
            <a:r>
              <a:rPr lang="id-ID" sz="4300" dirty="0">
                <a:latin typeface="Franklin Gothic Medium" panose="020B0603020102020204" pitchFamily="34" charset="0"/>
              </a:rPr>
              <a:t> </a:t>
            </a:r>
            <a:r>
              <a:rPr lang="id-ID" sz="4300" dirty="0" err="1">
                <a:latin typeface="Franklin Gothic Medium" panose="020B0603020102020204" pitchFamily="34" charset="0"/>
              </a:rPr>
              <a:t>Sales</a:t>
            </a:r>
            <a:r>
              <a:rPr lang="id-ID" sz="4300" dirty="0">
                <a:latin typeface="Franklin Gothic Medium" panose="020B0603020102020204" pitchFamily="34" charset="0"/>
              </a:rPr>
              <a:t> &amp; Profit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spTree>
    <p:extLst>
      <p:ext uri="{BB962C8B-B14F-4D97-AF65-F5344CB8AC3E}">
        <p14:creationId xmlns:p14="http://schemas.microsoft.com/office/powerpoint/2010/main" val="26110319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ambar 14">
            <a:extLst>
              <a:ext uri="{FF2B5EF4-FFF2-40B4-BE49-F238E27FC236}">
                <a16:creationId xmlns:a16="http://schemas.microsoft.com/office/drawing/2014/main" id="{9A75F52C-7C2C-0DD0-B2DB-8F904156CC44}"/>
              </a:ext>
            </a:extLst>
          </p:cNvPr>
          <p:cNvPicPr>
            <a:picLocks noChangeAspect="1"/>
          </p:cNvPicPr>
          <p:nvPr/>
        </p:nvPicPr>
        <p:blipFill>
          <a:blip r:embed="rId2"/>
          <a:stretch>
            <a:fillRect/>
          </a:stretch>
        </p:blipFill>
        <p:spPr>
          <a:xfrm>
            <a:off x="9337268" y="7846661"/>
            <a:ext cx="2520000" cy="1664065"/>
          </a:xfrm>
          <a:prstGeom prst="roundRect">
            <a:avLst/>
          </a:prstGeom>
        </p:spPr>
      </p:pic>
      <p:pic>
        <p:nvPicPr>
          <p:cNvPr id="5" name="Gambar 4">
            <a:extLst>
              <a:ext uri="{FF2B5EF4-FFF2-40B4-BE49-F238E27FC236}">
                <a16:creationId xmlns:a16="http://schemas.microsoft.com/office/drawing/2014/main" id="{DA272536-7E31-8156-CCDC-174F6FF9BDC7}"/>
              </a:ext>
            </a:extLst>
          </p:cNvPr>
          <p:cNvPicPr>
            <a:picLocks noChangeAspect="1"/>
          </p:cNvPicPr>
          <p:nvPr/>
        </p:nvPicPr>
        <p:blipFill>
          <a:blip r:embed="rId3"/>
          <a:stretch>
            <a:fillRect/>
          </a:stretch>
        </p:blipFill>
        <p:spPr>
          <a:xfrm>
            <a:off x="9337268" y="9809772"/>
            <a:ext cx="2520000" cy="1445482"/>
          </a:xfrm>
          <a:prstGeom prst="roundRect">
            <a:avLst/>
          </a:prstGeom>
        </p:spPr>
      </p:pic>
      <p:pic>
        <p:nvPicPr>
          <p:cNvPr id="6" name="Gambar 5">
            <a:extLst>
              <a:ext uri="{FF2B5EF4-FFF2-40B4-BE49-F238E27FC236}">
                <a16:creationId xmlns:a16="http://schemas.microsoft.com/office/drawing/2014/main" id="{EE2C29EB-8EAE-9AC3-4A2C-BC7EF6D19A9B}"/>
              </a:ext>
            </a:extLst>
          </p:cNvPr>
          <p:cNvPicPr>
            <a:picLocks noChangeAspect="1"/>
          </p:cNvPicPr>
          <p:nvPr/>
        </p:nvPicPr>
        <p:blipFill>
          <a:blip r:embed="rId4"/>
          <a:stretch>
            <a:fillRect/>
          </a:stretch>
        </p:blipFill>
        <p:spPr>
          <a:xfrm>
            <a:off x="9337268" y="11554300"/>
            <a:ext cx="2520000" cy="1638714"/>
          </a:xfrm>
          <a:prstGeom prst="roundRect">
            <a:avLst/>
          </a:prstGeom>
        </p:spPr>
      </p:pic>
      <p:pic>
        <p:nvPicPr>
          <p:cNvPr id="7" name="Gambar 6">
            <a:extLst>
              <a:ext uri="{FF2B5EF4-FFF2-40B4-BE49-F238E27FC236}">
                <a16:creationId xmlns:a16="http://schemas.microsoft.com/office/drawing/2014/main" id="{63CB4D75-7CB7-0CD5-AEF8-B31B7416A287}"/>
              </a:ext>
            </a:extLst>
          </p:cNvPr>
          <p:cNvPicPr>
            <a:picLocks noChangeAspect="1"/>
          </p:cNvPicPr>
          <p:nvPr/>
        </p:nvPicPr>
        <p:blipFill>
          <a:blip r:embed="rId5"/>
          <a:stretch>
            <a:fillRect/>
          </a:stretch>
        </p:blipFill>
        <p:spPr>
          <a:xfrm>
            <a:off x="6817268" y="2005231"/>
            <a:ext cx="5040000" cy="3305392"/>
          </a:xfrm>
          <a:prstGeom prst="roundRect">
            <a:avLst/>
          </a:prstGeom>
        </p:spPr>
      </p:pic>
      <p:pic>
        <p:nvPicPr>
          <p:cNvPr id="9" name="Gambar 8">
            <a:extLst>
              <a:ext uri="{FF2B5EF4-FFF2-40B4-BE49-F238E27FC236}">
                <a16:creationId xmlns:a16="http://schemas.microsoft.com/office/drawing/2014/main" id="{613FD319-024A-EADC-AE3C-220EEF4AEF6F}"/>
              </a:ext>
            </a:extLst>
          </p:cNvPr>
          <p:cNvPicPr>
            <a:picLocks noChangeAspect="1"/>
          </p:cNvPicPr>
          <p:nvPr/>
        </p:nvPicPr>
        <p:blipFill>
          <a:blip r:embed="rId6"/>
          <a:stretch>
            <a:fillRect/>
          </a:stretch>
        </p:blipFill>
        <p:spPr>
          <a:xfrm>
            <a:off x="9337268" y="6120780"/>
            <a:ext cx="2520000" cy="1426835"/>
          </a:xfrm>
          <a:prstGeom prst="roundRect">
            <a:avLst/>
          </a:prstGeom>
        </p:spPr>
      </p:pic>
      <p:sp>
        <p:nvSpPr>
          <p:cNvPr id="10" name="Judul 1">
            <a:extLst>
              <a:ext uri="{FF2B5EF4-FFF2-40B4-BE49-F238E27FC236}">
                <a16:creationId xmlns:a16="http://schemas.microsoft.com/office/drawing/2014/main" id="{AC369743-15D1-1966-072E-7B0E5F3B0864}"/>
              </a:ext>
            </a:extLst>
          </p:cNvPr>
          <p:cNvSpPr>
            <a:spLocks noGrp="1"/>
          </p:cNvSpPr>
          <p:nvPr>
            <p:ph type="title"/>
          </p:nvPr>
        </p:nvSpPr>
        <p:spPr>
          <a:xfrm>
            <a:off x="1063258" y="530167"/>
            <a:ext cx="7400260" cy="735107"/>
          </a:xfrm>
        </p:spPr>
        <p:txBody>
          <a:bodyPr>
            <a:normAutofit/>
          </a:bodyPr>
          <a:lstStyle/>
          <a:p>
            <a:pPr algn="ctr"/>
            <a:r>
              <a:rPr lang="id-ID" dirty="0">
                <a:latin typeface="Franklin Gothic Medium" panose="020B0603020102020204" pitchFamily="34" charset="0"/>
              </a:rPr>
              <a:t>SALES DASHBOARD CONTENT</a:t>
            </a:r>
          </a:p>
        </p:txBody>
      </p:sp>
      <p:sp>
        <p:nvSpPr>
          <p:cNvPr id="11" name="Tampungan Konten 2">
            <a:extLst>
              <a:ext uri="{FF2B5EF4-FFF2-40B4-BE49-F238E27FC236}">
                <a16:creationId xmlns:a16="http://schemas.microsoft.com/office/drawing/2014/main" id="{537CCC83-7904-D3FF-939D-217D33394951}"/>
              </a:ext>
            </a:extLst>
          </p:cNvPr>
          <p:cNvSpPr txBox="1">
            <a:spLocks/>
          </p:cNvSpPr>
          <p:nvPr/>
        </p:nvSpPr>
        <p:spPr>
          <a:xfrm>
            <a:off x="1061056" y="3111415"/>
            <a:ext cx="4931932" cy="2105506"/>
          </a:xfrm>
          <a:prstGeom prst="rect">
            <a:avLst/>
          </a:prstGeom>
        </p:spPr>
        <p:txBody>
          <a:bodyPr vert="horz" lIns="91440" tIns="45720" rIns="91440" bIns="45720" rtlCol="0">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total quantity, the increase/decrease in quantity sold compared to the previous year (YoY), and the monthly trend of quantity sold between the year selected by the user and the previous year.</a:t>
            </a:r>
            <a:endParaRPr lang="id-ID" sz="2200" dirty="0"/>
          </a:p>
        </p:txBody>
      </p:sp>
      <p:sp>
        <p:nvSpPr>
          <p:cNvPr id="12" name="Tampungan Konten 2">
            <a:extLst>
              <a:ext uri="{FF2B5EF4-FFF2-40B4-BE49-F238E27FC236}">
                <a16:creationId xmlns:a16="http://schemas.microsoft.com/office/drawing/2014/main" id="{1D19FA90-95C2-B713-CB22-ED40C298C908}"/>
              </a:ext>
            </a:extLst>
          </p:cNvPr>
          <p:cNvSpPr txBox="1">
            <a:spLocks/>
          </p:cNvSpPr>
          <p:nvPr/>
        </p:nvSpPr>
        <p:spPr>
          <a:xfrm>
            <a:off x="1061056" y="2212804"/>
            <a:ext cx="4643884" cy="898611"/>
          </a:xfrm>
          <a:prstGeom prst="rect">
            <a:avLst/>
          </a:prstGeom>
        </p:spPr>
        <p:txBody>
          <a:bodyPr vert="horz" lIns="91440" tIns="45720" rIns="91440" bIns="45720" rtlCol="0">
            <a:normAutofit fontScale="85000"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id-ID" sz="4300" dirty="0">
                <a:latin typeface="Franklin Gothic Medium" panose="020B0603020102020204" pitchFamily="34" charset="0"/>
              </a:rPr>
              <a:t>Total </a:t>
            </a:r>
            <a:r>
              <a:rPr lang="id-ID" sz="4300" dirty="0" err="1">
                <a:latin typeface="Franklin Gothic Medium" panose="020B0603020102020204" pitchFamily="34" charset="0"/>
              </a:rPr>
              <a:t>Quantity</a:t>
            </a:r>
            <a:r>
              <a:rPr lang="id-ID" sz="4300" dirty="0">
                <a:latin typeface="Franklin Gothic Medium" panose="020B0603020102020204" pitchFamily="34" charset="0"/>
              </a:rPr>
              <a:t>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sp>
        <p:nvSpPr>
          <p:cNvPr id="13" name="Persegi Panjang 12">
            <a:extLst>
              <a:ext uri="{FF2B5EF4-FFF2-40B4-BE49-F238E27FC236}">
                <a16:creationId xmlns:a16="http://schemas.microsoft.com/office/drawing/2014/main" id="{E4872FE8-5D5F-5E2C-51E3-9B1C3C4BB2B5}"/>
              </a:ext>
            </a:extLst>
          </p:cNvPr>
          <p:cNvSpPr/>
          <p:nvPr/>
        </p:nvSpPr>
        <p:spPr>
          <a:xfrm>
            <a:off x="1106776" y="2923004"/>
            <a:ext cx="4716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14" name="Gambar 13">
            <a:extLst>
              <a:ext uri="{FF2B5EF4-FFF2-40B4-BE49-F238E27FC236}">
                <a16:creationId xmlns:a16="http://schemas.microsoft.com/office/drawing/2014/main" id="{0E40D45D-BD12-BBF4-7177-677E3961400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0743" y="553991"/>
            <a:ext cx="662462" cy="658118"/>
          </a:xfrm>
          <a:prstGeom prst="rect">
            <a:avLst/>
          </a:prstGeom>
        </p:spPr>
      </p:pic>
    </p:spTree>
    <p:extLst>
      <p:ext uri="{BB962C8B-B14F-4D97-AF65-F5344CB8AC3E}">
        <p14:creationId xmlns:p14="http://schemas.microsoft.com/office/powerpoint/2010/main" val="8085322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Judul 1">
            <a:extLst>
              <a:ext uri="{FF2B5EF4-FFF2-40B4-BE49-F238E27FC236}">
                <a16:creationId xmlns:a16="http://schemas.microsoft.com/office/drawing/2014/main" id="{384408B9-9F0C-B2D8-13D4-47B620946662}"/>
              </a:ext>
            </a:extLst>
          </p:cNvPr>
          <p:cNvSpPr>
            <a:spLocks noGrp="1"/>
          </p:cNvSpPr>
          <p:nvPr>
            <p:ph type="title"/>
          </p:nvPr>
        </p:nvSpPr>
        <p:spPr>
          <a:xfrm>
            <a:off x="2406505" y="3061446"/>
            <a:ext cx="8832115" cy="735107"/>
          </a:xfrm>
        </p:spPr>
        <p:txBody>
          <a:bodyPr>
            <a:normAutofit/>
          </a:bodyPr>
          <a:lstStyle/>
          <a:p>
            <a:pPr algn="ctr"/>
            <a:r>
              <a:rPr lang="id-ID" dirty="0">
                <a:latin typeface="Franklin Gothic Medium" panose="020B0603020102020204" pitchFamily="34" charset="0"/>
              </a:rPr>
              <a:t>CUSTOMER DASHBOARD CONTENT</a:t>
            </a:r>
          </a:p>
        </p:txBody>
      </p:sp>
      <p:pic>
        <p:nvPicPr>
          <p:cNvPr id="2" name="Gambar 1">
            <a:extLst>
              <a:ext uri="{FF2B5EF4-FFF2-40B4-BE49-F238E27FC236}">
                <a16:creationId xmlns:a16="http://schemas.microsoft.com/office/drawing/2014/main" id="{F5BFC216-089C-30EE-8B46-ADB87E8DBD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505" y="2894241"/>
            <a:ext cx="1080000" cy="1069515"/>
          </a:xfrm>
          <a:prstGeom prst="rect">
            <a:avLst/>
          </a:prstGeom>
        </p:spPr>
      </p:pic>
    </p:spTree>
    <p:extLst>
      <p:ext uri="{BB962C8B-B14F-4D97-AF65-F5344CB8AC3E}">
        <p14:creationId xmlns:p14="http://schemas.microsoft.com/office/powerpoint/2010/main" val="7812344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Judul 1">
            <a:extLst>
              <a:ext uri="{FF2B5EF4-FFF2-40B4-BE49-F238E27FC236}">
                <a16:creationId xmlns:a16="http://schemas.microsoft.com/office/drawing/2014/main" id="{AC369743-15D1-1966-072E-7B0E5F3B0864}"/>
              </a:ext>
            </a:extLst>
          </p:cNvPr>
          <p:cNvSpPr>
            <a:spLocks noGrp="1"/>
          </p:cNvSpPr>
          <p:nvPr>
            <p:ph type="title"/>
          </p:nvPr>
        </p:nvSpPr>
        <p:spPr>
          <a:xfrm>
            <a:off x="1063258" y="530167"/>
            <a:ext cx="5677784" cy="1110912"/>
          </a:xfrm>
        </p:spPr>
        <p:txBody>
          <a:bodyPr>
            <a:normAutofit fontScale="90000"/>
          </a:bodyPr>
          <a:lstStyle/>
          <a:p>
            <a:pPr algn="ctr"/>
            <a:r>
              <a:rPr lang="id-ID" dirty="0">
                <a:latin typeface="Franklin Gothic Medium" panose="020B0603020102020204" pitchFamily="34" charset="0"/>
              </a:rPr>
              <a:t>CUSTOMER DASHBOARD</a:t>
            </a:r>
            <a:br>
              <a:rPr lang="id-ID" dirty="0">
                <a:latin typeface="Franklin Gothic Medium" panose="020B0603020102020204" pitchFamily="34" charset="0"/>
              </a:rPr>
            </a:br>
            <a:r>
              <a:rPr lang="id-ID" dirty="0">
                <a:latin typeface="Franklin Gothic Medium" panose="020B0603020102020204" pitchFamily="34" charset="0"/>
              </a:rPr>
              <a:t>CONTENT</a:t>
            </a:r>
          </a:p>
        </p:txBody>
      </p:sp>
      <p:sp>
        <p:nvSpPr>
          <p:cNvPr id="11" name="Tampungan Konten 2">
            <a:extLst>
              <a:ext uri="{FF2B5EF4-FFF2-40B4-BE49-F238E27FC236}">
                <a16:creationId xmlns:a16="http://schemas.microsoft.com/office/drawing/2014/main" id="{537CCC83-7904-D3FF-939D-217D33394951}"/>
              </a:ext>
            </a:extLst>
          </p:cNvPr>
          <p:cNvSpPr txBox="1">
            <a:spLocks/>
          </p:cNvSpPr>
          <p:nvPr/>
        </p:nvSpPr>
        <p:spPr>
          <a:xfrm>
            <a:off x="1061056" y="3111415"/>
            <a:ext cx="4931932" cy="2105506"/>
          </a:xfrm>
          <a:prstGeom prst="rect">
            <a:avLst/>
          </a:prstGeom>
        </p:spPr>
        <p:txBody>
          <a:bodyPr vert="horz" lIns="91440" tIns="45720" rIns="91440" bIns="45720" rtlCol="0">
            <a:normAutofit fontScale="92500" lnSpcReduction="2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total number of customers, the increase/decrease in the number of customers compared to the previous year (YoY), and the monthly trend of the number of customers between the year selected by the user and the previous year.</a:t>
            </a:r>
            <a:endParaRPr lang="id-ID" sz="2200" dirty="0"/>
          </a:p>
        </p:txBody>
      </p:sp>
      <p:sp>
        <p:nvSpPr>
          <p:cNvPr id="12" name="Tampungan Konten 2">
            <a:extLst>
              <a:ext uri="{FF2B5EF4-FFF2-40B4-BE49-F238E27FC236}">
                <a16:creationId xmlns:a16="http://schemas.microsoft.com/office/drawing/2014/main" id="{1D19FA90-95C2-B713-CB22-ED40C298C908}"/>
              </a:ext>
            </a:extLst>
          </p:cNvPr>
          <p:cNvSpPr txBox="1">
            <a:spLocks/>
          </p:cNvSpPr>
          <p:nvPr/>
        </p:nvSpPr>
        <p:spPr>
          <a:xfrm>
            <a:off x="1061056" y="2212804"/>
            <a:ext cx="4931932" cy="898611"/>
          </a:xfrm>
          <a:prstGeom prst="rect">
            <a:avLst/>
          </a:prstGeom>
        </p:spPr>
        <p:txBody>
          <a:bodyPr vert="horz" lIns="91440" tIns="45720" rIns="91440" bIns="45720" rtlCol="0">
            <a:normAutofit fontScale="85000"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id-ID" sz="4300" dirty="0">
                <a:latin typeface="Franklin Gothic Medium" panose="020B0603020102020204" pitchFamily="34" charset="0"/>
              </a:rPr>
              <a:t>Total </a:t>
            </a:r>
            <a:r>
              <a:rPr lang="id-ID" sz="4300" dirty="0" err="1">
                <a:latin typeface="Franklin Gothic Medium" panose="020B0603020102020204" pitchFamily="34" charset="0"/>
              </a:rPr>
              <a:t>Customer</a:t>
            </a:r>
            <a:r>
              <a:rPr lang="id-ID" sz="4300" dirty="0">
                <a:latin typeface="Franklin Gothic Medium" panose="020B0603020102020204" pitchFamily="34" charset="0"/>
              </a:rPr>
              <a:t>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sp>
        <p:nvSpPr>
          <p:cNvPr id="13" name="Persegi Panjang 12">
            <a:extLst>
              <a:ext uri="{FF2B5EF4-FFF2-40B4-BE49-F238E27FC236}">
                <a16:creationId xmlns:a16="http://schemas.microsoft.com/office/drawing/2014/main" id="{E4872FE8-5D5F-5E2C-51E3-9B1C3C4BB2B5}"/>
              </a:ext>
            </a:extLst>
          </p:cNvPr>
          <p:cNvSpPr/>
          <p:nvPr/>
        </p:nvSpPr>
        <p:spPr>
          <a:xfrm>
            <a:off x="1061056" y="2948404"/>
            <a:ext cx="4716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2" name="Gambar 1">
            <a:extLst>
              <a:ext uri="{FF2B5EF4-FFF2-40B4-BE49-F238E27FC236}">
                <a16:creationId xmlns:a16="http://schemas.microsoft.com/office/drawing/2014/main" id="{EFF87E04-967B-5524-EF24-C3F5A3915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432" y="530167"/>
            <a:ext cx="655968" cy="649600"/>
          </a:xfrm>
          <a:prstGeom prst="rect">
            <a:avLst/>
          </a:prstGeom>
        </p:spPr>
      </p:pic>
      <p:pic>
        <p:nvPicPr>
          <p:cNvPr id="4" name="Gambar 3">
            <a:extLst>
              <a:ext uri="{FF2B5EF4-FFF2-40B4-BE49-F238E27FC236}">
                <a16:creationId xmlns:a16="http://schemas.microsoft.com/office/drawing/2014/main" id="{1A8C5FDD-744B-D6D7-D678-9624C0AD49C4}"/>
              </a:ext>
            </a:extLst>
          </p:cNvPr>
          <p:cNvPicPr>
            <a:picLocks noChangeAspect="1"/>
          </p:cNvPicPr>
          <p:nvPr/>
        </p:nvPicPr>
        <p:blipFill>
          <a:blip r:embed="rId3"/>
          <a:stretch>
            <a:fillRect/>
          </a:stretch>
        </p:blipFill>
        <p:spPr>
          <a:xfrm>
            <a:off x="6808838" y="2005831"/>
            <a:ext cx="5040000" cy="3305077"/>
          </a:xfrm>
          <a:prstGeom prst="roundRect">
            <a:avLst/>
          </a:prstGeom>
        </p:spPr>
      </p:pic>
      <p:pic>
        <p:nvPicPr>
          <p:cNvPr id="16" name="Gambar 15">
            <a:extLst>
              <a:ext uri="{FF2B5EF4-FFF2-40B4-BE49-F238E27FC236}">
                <a16:creationId xmlns:a16="http://schemas.microsoft.com/office/drawing/2014/main" id="{BB666880-0DA5-7E2A-6A70-BA84ABCED072}"/>
              </a:ext>
            </a:extLst>
          </p:cNvPr>
          <p:cNvPicPr>
            <a:picLocks noChangeAspect="1"/>
          </p:cNvPicPr>
          <p:nvPr/>
        </p:nvPicPr>
        <p:blipFill>
          <a:blip r:embed="rId4"/>
          <a:stretch>
            <a:fillRect/>
          </a:stretch>
        </p:blipFill>
        <p:spPr>
          <a:xfrm>
            <a:off x="9328838" y="-2560120"/>
            <a:ext cx="2520000" cy="1657643"/>
          </a:xfrm>
          <a:prstGeom prst="roundRect">
            <a:avLst/>
          </a:prstGeom>
        </p:spPr>
      </p:pic>
      <p:pic>
        <p:nvPicPr>
          <p:cNvPr id="18" name="Gambar 17">
            <a:extLst>
              <a:ext uri="{FF2B5EF4-FFF2-40B4-BE49-F238E27FC236}">
                <a16:creationId xmlns:a16="http://schemas.microsoft.com/office/drawing/2014/main" id="{2A57749F-5BBA-9DC4-7F51-B761ED27BDC4}"/>
              </a:ext>
            </a:extLst>
          </p:cNvPr>
          <p:cNvPicPr>
            <a:picLocks noChangeAspect="1"/>
          </p:cNvPicPr>
          <p:nvPr/>
        </p:nvPicPr>
        <p:blipFill>
          <a:blip r:embed="rId5"/>
          <a:stretch>
            <a:fillRect/>
          </a:stretch>
        </p:blipFill>
        <p:spPr>
          <a:xfrm>
            <a:off x="9328838" y="-6018819"/>
            <a:ext cx="2520000" cy="1660689"/>
          </a:xfrm>
          <a:prstGeom prst="roundRect">
            <a:avLst/>
          </a:prstGeom>
        </p:spPr>
      </p:pic>
      <p:pic>
        <p:nvPicPr>
          <p:cNvPr id="20" name="Gambar 19">
            <a:extLst>
              <a:ext uri="{FF2B5EF4-FFF2-40B4-BE49-F238E27FC236}">
                <a16:creationId xmlns:a16="http://schemas.microsoft.com/office/drawing/2014/main" id="{6929624A-2B4F-BD14-AF40-A777DB408EAA}"/>
              </a:ext>
            </a:extLst>
          </p:cNvPr>
          <p:cNvPicPr>
            <a:picLocks noChangeAspect="1"/>
          </p:cNvPicPr>
          <p:nvPr/>
        </p:nvPicPr>
        <p:blipFill>
          <a:blip r:embed="rId6"/>
          <a:stretch>
            <a:fillRect/>
          </a:stretch>
        </p:blipFill>
        <p:spPr>
          <a:xfrm>
            <a:off x="9328838" y="-722361"/>
            <a:ext cx="2520000" cy="1430875"/>
          </a:xfrm>
          <a:prstGeom prst="roundRect">
            <a:avLst/>
          </a:prstGeom>
        </p:spPr>
      </p:pic>
      <p:pic>
        <p:nvPicPr>
          <p:cNvPr id="22" name="Gambar 21">
            <a:extLst>
              <a:ext uri="{FF2B5EF4-FFF2-40B4-BE49-F238E27FC236}">
                <a16:creationId xmlns:a16="http://schemas.microsoft.com/office/drawing/2014/main" id="{0F14AD5D-CB36-058B-AB8B-EE5369D920A2}"/>
              </a:ext>
            </a:extLst>
          </p:cNvPr>
          <p:cNvPicPr>
            <a:picLocks noChangeAspect="1"/>
          </p:cNvPicPr>
          <p:nvPr/>
        </p:nvPicPr>
        <p:blipFill>
          <a:blip r:embed="rId7"/>
          <a:stretch>
            <a:fillRect/>
          </a:stretch>
        </p:blipFill>
        <p:spPr>
          <a:xfrm>
            <a:off x="9328838" y="-4177774"/>
            <a:ext cx="2520000" cy="1431818"/>
          </a:xfrm>
          <a:prstGeom prst="roundRect">
            <a:avLst/>
          </a:prstGeom>
        </p:spPr>
      </p:pic>
    </p:spTree>
    <p:extLst>
      <p:ext uri="{BB962C8B-B14F-4D97-AF65-F5344CB8AC3E}">
        <p14:creationId xmlns:p14="http://schemas.microsoft.com/office/powerpoint/2010/main" val="33658167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Judul 1">
            <a:extLst>
              <a:ext uri="{FF2B5EF4-FFF2-40B4-BE49-F238E27FC236}">
                <a16:creationId xmlns:a16="http://schemas.microsoft.com/office/drawing/2014/main" id="{AC369743-15D1-1966-072E-7B0E5F3B0864}"/>
              </a:ext>
            </a:extLst>
          </p:cNvPr>
          <p:cNvSpPr>
            <a:spLocks noGrp="1"/>
          </p:cNvSpPr>
          <p:nvPr>
            <p:ph type="title"/>
          </p:nvPr>
        </p:nvSpPr>
        <p:spPr>
          <a:xfrm>
            <a:off x="1063258" y="530167"/>
            <a:ext cx="5677784" cy="1110912"/>
          </a:xfrm>
        </p:spPr>
        <p:txBody>
          <a:bodyPr>
            <a:normAutofit fontScale="90000"/>
          </a:bodyPr>
          <a:lstStyle/>
          <a:p>
            <a:pPr algn="ctr"/>
            <a:r>
              <a:rPr lang="id-ID" dirty="0">
                <a:latin typeface="Franklin Gothic Medium" panose="020B0603020102020204" pitchFamily="34" charset="0"/>
              </a:rPr>
              <a:t>CUSTOMER DASHBOARD</a:t>
            </a:r>
            <a:br>
              <a:rPr lang="id-ID" dirty="0">
                <a:latin typeface="Franklin Gothic Medium" panose="020B0603020102020204" pitchFamily="34" charset="0"/>
              </a:rPr>
            </a:br>
            <a:r>
              <a:rPr lang="id-ID" dirty="0">
                <a:latin typeface="Franklin Gothic Medium" panose="020B0603020102020204" pitchFamily="34" charset="0"/>
              </a:rPr>
              <a:t>CONTENT</a:t>
            </a:r>
          </a:p>
        </p:txBody>
      </p:sp>
      <p:sp>
        <p:nvSpPr>
          <p:cNvPr id="11" name="Tampungan Konten 2">
            <a:extLst>
              <a:ext uri="{FF2B5EF4-FFF2-40B4-BE49-F238E27FC236}">
                <a16:creationId xmlns:a16="http://schemas.microsoft.com/office/drawing/2014/main" id="{537CCC83-7904-D3FF-939D-217D33394951}"/>
              </a:ext>
            </a:extLst>
          </p:cNvPr>
          <p:cNvSpPr txBox="1">
            <a:spLocks/>
          </p:cNvSpPr>
          <p:nvPr/>
        </p:nvSpPr>
        <p:spPr>
          <a:xfrm>
            <a:off x="1061056" y="3873415"/>
            <a:ext cx="4931932" cy="131198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number of customers who placed orders with a certain quantity.</a:t>
            </a:r>
            <a:endParaRPr lang="id-ID" sz="2200" dirty="0"/>
          </a:p>
        </p:txBody>
      </p:sp>
      <p:sp>
        <p:nvSpPr>
          <p:cNvPr id="12" name="Tampungan Konten 2">
            <a:extLst>
              <a:ext uri="{FF2B5EF4-FFF2-40B4-BE49-F238E27FC236}">
                <a16:creationId xmlns:a16="http://schemas.microsoft.com/office/drawing/2014/main" id="{1D19FA90-95C2-B713-CB22-ED40C298C908}"/>
              </a:ext>
            </a:extLst>
          </p:cNvPr>
          <p:cNvSpPr txBox="1">
            <a:spLocks/>
          </p:cNvSpPr>
          <p:nvPr/>
        </p:nvSpPr>
        <p:spPr>
          <a:xfrm>
            <a:off x="1061056" y="2271413"/>
            <a:ext cx="5390544" cy="1525887"/>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00000"/>
              </a:lnSpc>
              <a:buFont typeface="Franklin Gothic Book" panose="020B0503020102020204" pitchFamily="34" charset="0"/>
              <a:buNone/>
            </a:pPr>
            <a:r>
              <a:rPr lang="id-ID" sz="4000" dirty="0" err="1">
                <a:latin typeface="Franklin Gothic Medium" panose="020B0603020102020204" pitchFamily="34" charset="0"/>
              </a:rPr>
              <a:t>Number</a:t>
            </a:r>
            <a:r>
              <a:rPr lang="id-ID" sz="4000" dirty="0">
                <a:latin typeface="Franklin Gothic Medium" panose="020B0603020102020204" pitchFamily="34" charset="0"/>
              </a:rPr>
              <a:t> </a:t>
            </a:r>
            <a:r>
              <a:rPr lang="id-ID" sz="4000" dirty="0" err="1">
                <a:latin typeface="Franklin Gothic Medium" panose="020B0603020102020204" pitchFamily="34" charset="0"/>
              </a:rPr>
              <a:t>of</a:t>
            </a:r>
            <a:r>
              <a:rPr lang="id-ID" sz="4000" dirty="0">
                <a:latin typeface="Franklin Gothic Medium" panose="020B0603020102020204" pitchFamily="34" charset="0"/>
              </a:rPr>
              <a:t> Order </a:t>
            </a:r>
          </a:p>
          <a:p>
            <a:pPr marL="0" indent="0">
              <a:lnSpc>
                <a:spcPct val="100000"/>
              </a:lnSpc>
              <a:buFont typeface="Franklin Gothic Book" panose="020B0503020102020204" pitchFamily="34" charset="0"/>
              <a:buNone/>
            </a:pPr>
            <a:r>
              <a:rPr lang="id-ID" sz="4000" dirty="0" err="1">
                <a:latin typeface="Franklin Gothic Medium" panose="020B0603020102020204" pitchFamily="34" charset="0"/>
              </a:rPr>
              <a:t>Section</a:t>
            </a:r>
            <a:endParaRPr lang="id-ID" sz="4000" dirty="0">
              <a:latin typeface="Franklin Gothic Medium" panose="020B0603020102020204" pitchFamily="34" charset="0"/>
            </a:endParaRPr>
          </a:p>
        </p:txBody>
      </p:sp>
      <p:sp>
        <p:nvSpPr>
          <p:cNvPr id="13" name="Persegi Panjang 12">
            <a:extLst>
              <a:ext uri="{FF2B5EF4-FFF2-40B4-BE49-F238E27FC236}">
                <a16:creationId xmlns:a16="http://schemas.microsoft.com/office/drawing/2014/main" id="{E4872FE8-5D5F-5E2C-51E3-9B1C3C4BB2B5}"/>
              </a:ext>
            </a:extLst>
          </p:cNvPr>
          <p:cNvSpPr/>
          <p:nvPr/>
        </p:nvSpPr>
        <p:spPr>
          <a:xfrm>
            <a:off x="1061056" y="3710404"/>
            <a:ext cx="4716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2" name="Gambar 1">
            <a:extLst>
              <a:ext uri="{FF2B5EF4-FFF2-40B4-BE49-F238E27FC236}">
                <a16:creationId xmlns:a16="http://schemas.microsoft.com/office/drawing/2014/main" id="{EFF87E04-967B-5524-EF24-C3F5A3915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432" y="530167"/>
            <a:ext cx="655968" cy="649600"/>
          </a:xfrm>
          <a:prstGeom prst="rect">
            <a:avLst/>
          </a:prstGeom>
        </p:spPr>
      </p:pic>
      <p:pic>
        <p:nvPicPr>
          <p:cNvPr id="4" name="Gambar 3">
            <a:extLst>
              <a:ext uri="{FF2B5EF4-FFF2-40B4-BE49-F238E27FC236}">
                <a16:creationId xmlns:a16="http://schemas.microsoft.com/office/drawing/2014/main" id="{1A8C5FDD-744B-D6D7-D678-9624C0AD49C4}"/>
              </a:ext>
            </a:extLst>
          </p:cNvPr>
          <p:cNvPicPr>
            <a:picLocks noChangeAspect="1"/>
          </p:cNvPicPr>
          <p:nvPr/>
        </p:nvPicPr>
        <p:blipFill>
          <a:blip r:embed="rId3"/>
          <a:stretch>
            <a:fillRect/>
          </a:stretch>
        </p:blipFill>
        <p:spPr>
          <a:xfrm>
            <a:off x="9328838" y="6007672"/>
            <a:ext cx="2520000" cy="1652539"/>
          </a:xfrm>
          <a:prstGeom prst="roundRect">
            <a:avLst/>
          </a:prstGeom>
        </p:spPr>
      </p:pic>
      <p:pic>
        <p:nvPicPr>
          <p:cNvPr id="16" name="Gambar 15">
            <a:extLst>
              <a:ext uri="{FF2B5EF4-FFF2-40B4-BE49-F238E27FC236}">
                <a16:creationId xmlns:a16="http://schemas.microsoft.com/office/drawing/2014/main" id="{BB666880-0DA5-7E2A-6A70-BA84ABCED072}"/>
              </a:ext>
            </a:extLst>
          </p:cNvPr>
          <p:cNvPicPr>
            <a:picLocks noChangeAspect="1"/>
          </p:cNvPicPr>
          <p:nvPr/>
        </p:nvPicPr>
        <p:blipFill>
          <a:blip r:embed="rId4"/>
          <a:stretch>
            <a:fillRect/>
          </a:stretch>
        </p:blipFill>
        <p:spPr>
          <a:xfrm>
            <a:off x="9328838" y="-858320"/>
            <a:ext cx="2520000" cy="1657643"/>
          </a:xfrm>
          <a:prstGeom prst="roundRect">
            <a:avLst/>
          </a:prstGeom>
        </p:spPr>
      </p:pic>
      <p:pic>
        <p:nvPicPr>
          <p:cNvPr id="18" name="Gambar 17">
            <a:extLst>
              <a:ext uri="{FF2B5EF4-FFF2-40B4-BE49-F238E27FC236}">
                <a16:creationId xmlns:a16="http://schemas.microsoft.com/office/drawing/2014/main" id="{2A57749F-5BBA-9DC4-7F51-B761ED27BDC4}"/>
              </a:ext>
            </a:extLst>
          </p:cNvPr>
          <p:cNvPicPr>
            <a:picLocks noChangeAspect="1"/>
          </p:cNvPicPr>
          <p:nvPr/>
        </p:nvPicPr>
        <p:blipFill>
          <a:blip r:embed="rId5"/>
          <a:stretch>
            <a:fillRect/>
          </a:stretch>
        </p:blipFill>
        <p:spPr>
          <a:xfrm>
            <a:off x="9328838" y="-4317019"/>
            <a:ext cx="2520000" cy="1660689"/>
          </a:xfrm>
          <a:prstGeom prst="roundRect">
            <a:avLst/>
          </a:prstGeom>
        </p:spPr>
      </p:pic>
      <p:pic>
        <p:nvPicPr>
          <p:cNvPr id="20" name="Gambar 19">
            <a:extLst>
              <a:ext uri="{FF2B5EF4-FFF2-40B4-BE49-F238E27FC236}">
                <a16:creationId xmlns:a16="http://schemas.microsoft.com/office/drawing/2014/main" id="{6929624A-2B4F-BD14-AF40-A777DB408EAA}"/>
              </a:ext>
            </a:extLst>
          </p:cNvPr>
          <p:cNvPicPr>
            <a:picLocks noChangeAspect="1"/>
          </p:cNvPicPr>
          <p:nvPr/>
        </p:nvPicPr>
        <p:blipFill>
          <a:blip r:embed="rId6"/>
          <a:stretch>
            <a:fillRect/>
          </a:stretch>
        </p:blipFill>
        <p:spPr>
          <a:xfrm>
            <a:off x="6808838" y="2221834"/>
            <a:ext cx="5040000" cy="2861750"/>
          </a:xfrm>
          <a:prstGeom prst="roundRect">
            <a:avLst/>
          </a:prstGeom>
        </p:spPr>
      </p:pic>
      <p:pic>
        <p:nvPicPr>
          <p:cNvPr id="22" name="Gambar 21">
            <a:extLst>
              <a:ext uri="{FF2B5EF4-FFF2-40B4-BE49-F238E27FC236}">
                <a16:creationId xmlns:a16="http://schemas.microsoft.com/office/drawing/2014/main" id="{0F14AD5D-CB36-058B-AB8B-EE5369D920A2}"/>
              </a:ext>
            </a:extLst>
          </p:cNvPr>
          <p:cNvPicPr>
            <a:picLocks noChangeAspect="1"/>
          </p:cNvPicPr>
          <p:nvPr/>
        </p:nvPicPr>
        <p:blipFill>
          <a:blip r:embed="rId7"/>
          <a:stretch>
            <a:fillRect/>
          </a:stretch>
        </p:blipFill>
        <p:spPr>
          <a:xfrm>
            <a:off x="9328838" y="-2475974"/>
            <a:ext cx="2520000" cy="1431818"/>
          </a:xfrm>
          <a:prstGeom prst="roundRect">
            <a:avLst/>
          </a:prstGeom>
        </p:spPr>
      </p:pic>
    </p:spTree>
    <p:extLst>
      <p:ext uri="{BB962C8B-B14F-4D97-AF65-F5344CB8AC3E}">
        <p14:creationId xmlns:p14="http://schemas.microsoft.com/office/powerpoint/2010/main" val="30197747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Judul 1">
            <a:extLst>
              <a:ext uri="{FF2B5EF4-FFF2-40B4-BE49-F238E27FC236}">
                <a16:creationId xmlns:a16="http://schemas.microsoft.com/office/drawing/2014/main" id="{AC369743-15D1-1966-072E-7B0E5F3B0864}"/>
              </a:ext>
            </a:extLst>
          </p:cNvPr>
          <p:cNvSpPr>
            <a:spLocks noGrp="1"/>
          </p:cNvSpPr>
          <p:nvPr>
            <p:ph type="title"/>
          </p:nvPr>
        </p:nvSpPr>
        <p:spPr>
          <a:xfrm>
            <a:off x="1063258" y="530167"/>
            <a:ext cx="5677784" cy="1110912"/>
          </a:xfrm>
        </p:spPr>
        <p:txBody>
          <a:bodyPr>
            <a:normAutofit fontScale="90000"/>
          </a:bodyPr>
          <a:lstStyle/>
          <a:p>
            <a:pPr algn="ctr"/>
            <a:r>
              <a:rPr lang="id-ID" dirty="0">
                <a:latin typeface="Franklin Gothic Medium" panose="020B0603020102020204" pitchFamily="34" charset="0"/>
              </a:rPr>
              <a:t>CUSTOMER DASHBOARD</a:t>
            </a:r>
            <a:br>
              <a:rPr lang="id-ID" dirty="0">
                <a:latin typeface="Franklin Gothic Medium" panose="020B0603020102020204" pitchFamily="34" charset="0"/>
              </a:rPr>
            </a:br>
            <a:r>
              <a:rPr lang="id-ID" dirty="0">
                <a:latin typeface="Franklin Gothic Medium" panose="020B0603020102020204" pitchFamily="34" charset="0"/>
              </a:rPr>
              <a:t>CONTENT</a:t>
            </a:r>
          </a:p>
        </p:txBody>
      </p:sp>
      <p:sp>
        <p:nvSpPr>
          <p:cNvPr id="11" name="Tampungan Konten 2">
            <a:extLst>
              <a:ext uri="{FF2B5EF4-FFF2-40B4-BE49-F238E27FC236}">
                <a16:creationId xmlns:a16="http://schemas.microsoft.com/office/drawing/2014/main" id="{537CCC83-7904-D3FF-939D-217D33394951}"/>
              </a:ext>
            </a:extLst>
          </p:cNvPr>
          <p:cNvSpPr txBox="1">
            <a:spLocks/>
          </p:cNvSpPr>
          <p:nvPr/>
        </p:nvSpPr>
        <p:spPr>
          <a:xfrm>
            <a:off x="1061056" y="3111415"/>
            <a:ext cx="4931932" cy="2105506"/>
          </a:xfrm>
          <a:prstGeom prst="rect">
            <a:avLst/>
          </a:prstGeom>
        </p:spPr>
        <p:txBody>
          <a:bodyPr vert="horz" lIns="91440" tIns="45720" rIns="91440" bIns="45720" rtlCol="0">
            <a:normAutofit fontScale="92500" lnSpcReduction="2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average sales per customer, the increase/decrease in average sales per customer compared to the previous year (YoY), and the monthly trend of average sales per customer between the year selected by the user and the previous year.</a:t>
            </a:r>
            <a:endParaRPr lang="id-ID" sz="2200" dirty="0"/>
          </a:p>
        </p:txBody>
      </p:sp>
      <p:sp>
        <p:nvSpPr>
          <p:cNvPr id="12" name="Tampungan Konten 2">
            <a:extLst>
              <a:ext uri="{FF2B5EF4-FFF2-40B4-BE49-F238E27FC236}">
                <a16:creationId xmlns:a16="http://schemas.microsoft.com/office/drawing/2014/main" id="{1D19FA90-95C2-B713-CB22-ED40C298C908}"/>
              </a:ext>
            </a:extLst>
          </p:cNvPr>
          <p:cNvSpPr txBox="1">
            <a:spLocks/>
          </p:cNvSpPr>
          <p:nvPr/>
        </p:nvSpPr>
        <p:spPr>
          <a:xfrm>
            <a:off x="1061056" y="2212804"/>
            <a:ext cx="5263544" cy="898611"/>
          </a:xfrm>
          <a:prstGeom prst="rect">
            <a:avLst/>
          </a:prstGeom>
        </p:spPr>
        <p:txBody>
          <a:bodyPr vert="horz" lIns="91440" tIns="45720" rIns="91440" bIns="45720" rtlCol="0">
            <a:normAutofit fontScale="925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id-ID" sz="4300" dirty="0" err="1">
                <a:latin typeface="Franklin Gothic Medium" panose="020B0603020102020204" pitchFamily="34" charset="0"/>
              </a:rPr>
              <a:t>Average</a:t>
            </a:r>
            <a:r>
              <a:rPr lang="id-ID" sz="4300" dirty="0">
                <a:latin typeface="Franklin Gothic Medium" panose="020B0603020102020204" pitchFamily="34" charset="0"/>
              </a:rPr>
              <a:t> </a:t>
            </a:r>
            <a:r>
              <a:rPr lang="id-ID" sz="4300" dirty="0" err="1">
                <a:latin typeface="Franklin Gothic Medium" panose="020B0603020102020204" pitchFamily="34" charset="0"/>
              </a:rPr>
              <a:t>Sales</a:t>
            </a:r>
            <a:r>
              <a:rPr lang="id-ID" sz="4300" dirty="0">
                <a:latin typeface="Franklin Gothic Medium" panose="020B0603020102020204" pitchFamily="34" charset="0"/>
              </a:rPr>
              <a:t>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sp>
        <p:nvSpPr>
          <p:cNvPr id="13" name="Persegi Panjang 12">
            <a:extLst>
              <a:ext uri="{FF2B5EF4-FFF2-40B4-BE49-F238E27FC236}">
                <a16:creationId xmlns:a16="http://schemas.microsoft.com/office/drawing/2014/main" id="{E4872FE8-5D5F-5E2C-51E3-9B1C3C4BB2B5}"/>
              </a:ext>
            </a:extLst>
          </p:cNvPr>
          <p:cNvSpPr/>
          <p:nvPr/>
        </p:nvSpPr>
        <p:spPr>
          <a:xfrm>
            <a:off x="1061056" y="2948404"/>
            <a:ext cx="5040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2" name="Gambar 1">
            <a:extLst>
              <a:ext uri="{FF2B5EF4-FFF2-40B4-BE49-F238E27FC236}">
                <a16:creationId xmlns:a16="http://schemas.microsoft.com/office/drawing/2014/main" id="{EFF87E04-967B-5524-EF24-C3F5A3915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432" y="530167"/>
            <a:ext cx="655968" cy="649600"/>
          </a:xfrm>
          <a:prstGeom prst="rect">
            <a:avLst/>
          </a:prstGeom>
        </p:spPr>
      </p:pic>
      <p:pic>
        <p:nvPicPr>
          <p:cNvPr id="4" name="Gambar 3">
            <a:extLst>
              <a:ext uri="{FF2B5EF4-FFF2-40B4-BE49-F238E27FC236}">
                <a16:creationId xmlns:a16="http://schemas.microsoft.com/office/drawing/2014/main" id="{1A8C5FDD-744B-D6D7-D678-9624C0AD49C4}"/>
              </a:ext>
            </a:extLst>
          </p:cNvPr>
          <p:cNvPicPr>
            <a:picLocks noChangeAspect="1"/>
          </p:cNvPicPr>
          <p:nvPr/>
        </p:nvPicPr>
        <p:blipFill>
          <a:blip r:embed="rId3"/>
          <a:stretch>
            <a:fillRect/>
          </a:stretch>
        </p:blipFill>
        <p:spPr>
          <a:xfrm>
            <a:off x="9328838" y="7759330"/>
            <a:ext cx="2520000" cy="1652539"/>
          </a:xfrm>
          <a:prstGeom prst="roundRect">
            <a:avLst/>
          </a:prstGeom>
        </p:spPr>
      </p:pic>
      <p:pic>
        <p:nvPicPr>
          <p:cNvPr id="16" name="Gambar 15">
            <a:extLst>
              <a:ext uri="{FF2B5EF4-FFF2-40B4-BE49-F238E27FC236}">
                <a16:creationId xmlns:a16="http://schemas.microsoft.com/office/drawing/2014/main" id="{BB666880-0DA5-7E2A-6A70-BA84ABCED072}"/>
              </a:ext>
            </a:extLst>
          </p:cNvPr>
          <p:cNvPicPr>
            <a:picLocks noChangeAspect="1"/>
          </p:cNvPicPr>
          <p:nvPr/>
        </p:nvPicPr>
        <p:blipFill>
          <a:blip r:embed="rId4"/>
          <a:stretch>
            <a:fillRect/>
          </a:stretch>
        </p:blipFill>
        <p:spPr>
          <a:xfrm>
            <a:off x="6808838" y="1999179"/>
            <a:ext cx="5040000" cy="3315286"/>
          </a:xfrm>
          <a:prstGeom prst="roundRect">
            <a:avLst/>
          </a:prstGeom>
        </p:spPr>
      </p:pic>
      <p:pic>
        <p:nvPicPr>
          <p:cNvPr id="18" name="Gambar 17">
            <a:extLst>
              <a:ext uri="{FF2B5EF4-FFF2-40B4-BE49-F238E27FC236}">
                <a16:creationId xmlns:a16="http://schemas.microsoft.com/office/drawing/2014/main" id="{2A57749F-5BBA-9DC4-7F51-B761ED27BDC4}"/>
              </a:ext>
            </a:extLst>
          </p:cNvPr>
          <p:cNvPicPr>
            <a:picLocks noChangeAspect="1"/>
          </p:cNvPicPr>
          <p:nvPr/>
        </p:nvPicPr>
        <p:blipFill>
          <a:blip r:embed="rId5"/>
          <a:stretch>
            <a:fillRect/>
          </a:stretch>
        </p:blipFill>
        <p:spPr>
          <a:xfrm>
            <a:off x="9328838" y="-2577119"/>
            <a:ext cx="2520000" cy="1660689"/>
          </a:xfrm>
          <a:prstGeom prst="roundRect">
            <a:avLst/>
          </a:prstGeom>
        </p:spPr>
      </p:pic>
      <p:pic>
        <p:nvPicPr>
          <p:cNvPr id="20" name="Gambar 19">
            <a:extLst>
              <a:ext uri="{FF2B5EF4-FFF2-40B4-BE49-F238E27FC236}">
                <a16:creationId xmlns:a16="http://schemas.microsoft.com/office/drawing/2014/main" id="{6929624A-2B4F-BD14-AF40-A777DB408EAA}"/>
              </a:ext>
            </a:extLst>
          </p:cNvPr>
          <p:cNvPicPr>
            <a:picLocks noChangeAspect="1"/>
          </p:cNvPicPr>
          <p:nvPr/>
        </p:nvPicPr>
        <p:blipFill>
          <a:blip r:embed="rId6"/>
          <a:stretch>
            <a:fillRect/>
          </a:stretch>
        </p:blipFill>
        <p:spPr>
          <a:xfrm>
            <a:off x="9328838" y="6148339"/>
            <a:ext cx="2520000" cy="1430875"/>
          </a:xfrm>
          <a:prstGeom prst="roundRect">
            <a:avLst/>
          </a:prstGeom>
        </p:spPr>
      </p:pic>
      <p:pic>
        <p:nvPicPr>
          <p:cNvPr id="22" name="Gambar 21">
            <a:extLst>
              <a:ext uri="{FF2B5EF4-FFF2-40B4-BE49-F238E27FC236}">
                <a16:creationId xmlns:a16="http://schemas.microsoft.com/office/drawing/2014/main" id="{0F14AD5D-CB36-058B-AB8B-EE5369D920A2}"/>
              </a:ext>
            </a:extLst>
          </p:cNvPr>
          <p:cNvPicPr>
            <a:picLocks noChangeAspect="1"/>
          </p:cNvPicPr>
          <p:nvPr/>
        </p:nvPicPr>
        <p:blipFill>
          <a:blip r:embed="rId7"/>
          <a:stretch>
            <a:fillRect/>
          </a:stretch>
        </p:blipFill>
        <p:spPr>
          <a:xfrm>
            <a:off x="9328838" y="-736074"/>
            <a:ext cx="2520000" cy="1431818"/>
          </a:xfrm>
          <a:prstGeom prst="roundRect">
            <a:avLst/>
          </a:prstGeom>
        </p:spPr>
      </p:pic>
    </p:spTree>
    <p:extLst>
      <p:ext uri="{BB962C8B-B14F-4D97-AF65-F5344CB8AC3E}">
        <p14:creationId xmlns:p14="http://schemas.microsoft.com/office/powerpoint/2010/main" val="20601660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Judul 1">
            <a:extLst>
              <a:ext uri="{FF2B5EF4-FFF2-40B4-BE49-F238E27FC236}">
                <a16:creationId xmlns:a16="http://schemas.microsoft.com/office/drawing/2014/main" id="{AC369743-15D1-1966-072E-7B0E5F3B0864}"/>
              </a:ext>
            </a:extLst>
          </p:cNvPr>
          <p:cNvSpPr>
            <a:spLocks noGrp="1"/>
          </p:cNvSpPr>
          <p:nvPr>
            <p:ph type="title"/>
          </p:nvPr>
        </p:nvSpPr>
        <p:spPr>
          <a:xfrm>
            <a:off x="1063258" y="530167"/>
            <a:ext cx="5677784" cy="1110912"/>
          </a:xfrm>
        </p:spPr>
        <p:txBody>
          <a:bodyPr>
            <a:normAutofit fontScale="90000"/>
          </a:bodyPr>
          <a:lstStyle/>
          <a:p>
            <a:pPr algn="ctr"/>
            <a:r>
              <a:rPr lang="id-ID" dirty="0">
                <a:latin typeface="Franklin Gothic Medium" panose="020B0603020102020204" pitchFamily="34" charset="0"/>
              </a:rPr>
              <a:t>CUSTOMER DASHBOARD</a:t>
            </a:r>
            <a:br>
              <a:rPr lang="id-ID" dirty="0">
                <a:latin typeface="Franklin Gothic Medium" panose="020B0603020102020204" pitchFamily="34" charset="0"/>
              </a:rPr>
            </a:br>
            <a:r>
              <a:rPr lang="id-ID" dirty="0">
                <a:latin typeface="Franklin Gothic Medium" panose="020B0603020102020204" pitchFamily="34" charset="0"/>
              </a:rPr>
              <a:t>CONTENT</a:t>
            </a:r>
          </a:p>
        </p:txBody>
      </p:sp>
      <p:sp>
        <p:nvSpPr>
          <p:cNvPr id="11" name="Tampungan Konten 2">
            <a:extLst>
              <a:ext uri="{FF2B5EF4-FFF2-40B4-BE49-F238E27FC236}">
                <a16:creationId xmlns:a16="http://schemas.microsoft.com/office/drawing/2014/main" id="{537CCC83-7904-D3FF-939D-217D33394951}"/>
              </a:ext>
            </a:extLst>
          </p:cNvPr>
          <p:cNvSpPr txBox="1">
            <a:spLocks/>
          </p:cNvSpPr>
          <p:nvPr/>
        </p:nvSpPr>
        <p:spPr>
          <a:xfrm>
            <a:off x="1061056" y="3111415"/>
            <a:ext cx="4931932" cy="210550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top 10 customers based on the profit generated through their orders, along with details about those customers.</a:t>
            </a:r>
            <a:endParaRPr lang="id-ID" sz="2200" dirty="0"/>
          </a:p>
        </p:txBody>
      </p:sp>
      <p:sp>
        <p:nvSpPr>
          <p:cNvPr id="12" name="Tampungan Konten 2">
            <a:extLst>
              <a:ext uri="{FF2B5EF4-FFF2-40B4-BE49-F238E27FC236}">
                <a16:creationId xmlns:a16="http://schemas.microsoft.com/office/drawing/2014/main" id="{1D19FA90-95C2-B713-CB22-ED40C298C908}"/>
              </a:ext>
            </a:extLst>
          </p:cNvPr>
          <p:cNvSpPr txBox="1">
            <a:spLocks/>
          </p:cNvSpPr>
          <p:nvPr/>
        </p:nvSpPr>
        <p:spPr>
          <a:xfrm>
            <a:off x="1061056" y="2212804"/>
            <a:ext cx="5504844" cy="89861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id-ID" sz="4300" dirty="0">
                <a:latin typeface="Franklin Gothic Medium" panose="020B0603020102020204" pitchFamily="34" charset="0"/>
              </a:rPr>
              <a:t>Top </a:t>
            </a:r>
            <a:r>
              <a:rPr lang="id-ID" sz="4300" dirty="0" err="1">
                <a:latin typeface="Franklin Gothic Medium" panose="020B0603020102020204" pitchFamily="34" charset="0"/>
              </a:rPr>
              <a:t>Customer</a:t>
            </a:r>
            <a:r>
              <a:rPr lang="id-ID" sz="4300" dirty="0">
                <a:latin typeface="Franklin Gothic Medium" panose="020B0603020102020204" pitchFamily="34" charset="0"/>
              </a:rPr>
              <a:t>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sp>
        <p:nvSpPr>
          <p:cNvPr id="13" name="Persegi Panjang 12">
            <a:extLst>
              <a:ext uri="{FF2B5EF4-FFF2-40B4-BE49-F238E27FC236}">
                <a16:creationId xmlns:a16="http://schemas.microsoft.com/office/drawing/2014/main" id="{E4872FE8-5D5F-5E2C-51E3-9B1C3C4BB2B5}"/>
              </a:ext>
            </a:extLst>
          </p:cNvPr>
          <p:cNvSpPr/>
          <p:nvPr/>
        </p:nvSpPr>
        <p:spPr>
          <a:xfrm>
            <a:off x="1061056" y="2948404"/>
            <a:ext cx="5220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2" name="Gambar 1">
            <a:extLst>
              <a:ext uri="{FF2B5EF4-FFF2-40B4-BE49-F238E27FC236}">
                <a16:creationId xmlns:a16="http://schemas.microsoft.com/office/drawing/2014/main" id="{EFF87E04-967B-5524-EF24-C3F5A3915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432" y="530167"/>
            <a:ext cx="655968" cy="649600"/>
          </a:xfrm>
          <a:prstGeom prst="rect">
            <a:avLst/>
          </a:prstGeom>
        </p:spPr>
      </p:pic>
      <p:pic>
        <p:nvPicPr>
          <p:cNvPr id="4" name="Gambar 3">
            <a:extLst>
              <a:ext uri="{FF2B5EF4-FFF2-40B4-BE49-F238E27FC236}">
                <a16:creationId xmlns:a16="http://schemas.microsoft.com/office/drawing/2014/main" id="{1A8C5FDD-744B-D6D7-D678-9624C0AD49C4}"/>
              </a:ext>
            </a:extLst>
          </p:cNvPr>
          <p:cNvPicPr>
            <a:picLocks noChangeAspect="1"/>
          </p:cNvPicPr>
          <p:nvPr/>
        </p:nvPicPr>
        <p:blipFill>
          <a:blip r:embed="rId3"/>
          <a:stretch>
            <a:fillRect/>
          </a:stretch>
        </p:blipFill>
        <p:spPr>
          <a:xfrm>
            <a:off x="9328838" y="9473830"/>
            <a:ext cx="2520000" cy="1652539"/>
          </a:xfrm>
          <a:prstGeom prst="roundRect">
            <a:avLst/>
          </a:prstGeom>
        </p:spPr>
      </p:pic>
      <p:pic>
        <p:nvPicPr>
          <p:cNvPr id="16" name="Gambar 15">
            <a:extLst>
              <a:ext uri="{FF2B5EF4-FFF2-40B4-BE49-F238E27FC236}">
                <a16:creationId xmlns:a16="http://schemas.microsoft.com/office/drawing/2014/main" id="{BB666880-0DA5-7E2A-6A70-BA84ABCED072}"/>
              </a:ext>
            </a:extLst>
          </p:cNvPr>
          <p:cNvPicPr>
            <a:picLocks noChangeAspect="1"/>
          </p:cNvPicPr>
          <p:nvPr/>
        </p:nvPicPr>
        <p:blipFill>
          <a:blip r:embed="rId4"/>
          <a:stretch>
            <a:fillRect/>
          </a:stretch>
        </p:blipFill>
        <p:spPr>
          <a:xfrm>
            <a:off x="9328838" y="6025080"/>
            <a:ext cx="2520000" cy="1657643"/>
          </a:xfrm>
          <a:prstGeom prst="roundRect">
            <a:avLst/>
          </a:prstGeom>
        </p:spPr>
      </p:pic>
      <p:pic>
        <p:nvPicPr>
          <p:cNvPr id="18" name="Gambar 17">
            <a:extLst>
              <a:ext uri="{FF2B5EF4-FFF2-40B4-BE49-F238E27FC236}">
                <a16:creationId xmlns:a16="http://schemas.microsoft.com/office/drawing/2014/main" id="{2A57749F-5BBA-9DC4-7F51-B761ED27BDC4}"/>
              </a:ext>
            </a:extLst>
          </p:cNvPr>
          <p:cNvPicPr>
            <a:picLocks noChangeAspect="1"/>
          </p:cNvPicPr>
          <p:nvPr/>
        </p:nvPicPr>
        <p:blipFill>
          <a:blip r:embed="rId5"/>
          <a:stretch>
            <a:fillRect/>
          </a:stretch>
        </p:blipFill>
        <p:spPr>
          <a:xfrm>
            <a:off x="9328838" y="-862619"/>
            <a:ext cx="2520000" cy="1660689"/>
          </a:xfrm>
          <a:prstGeom prst="roundRect">
            <a:avLst/>
          </a:prstGeom>
        </p:spPr>
      </p:pic>
      <p:pic>
        <p:nvPicPr>
          <p:cNvPr id="20" name="Gambar 19">
            <a:extLst>
              <a:ext uri="{FF2B5EF4-FFF2-40B4-BE49-F238E27FC236}">
                <a16:creationId xmlns:a16="http://schemas.microsoft.com/office/drawing/2014/main" id="{6929624A-2B4F-BD14-AF40-A777DB408EAA}"/>
              </a:ext>
            </a:extLst>
          </p:cNvPr>
          <p:cNvPicPr>
            <a:picLocks noChangeAspect="1"/>
          </p:cNvPicPr>
          <p:nvPr/>
        </p:nvPicPr>
        <p:blipFill>
          <a:blip r:embed="rId6"/>
          <a:stretch>
            <a:fillRect/>
          </a:stretch>
        </p:blipFill>
        <p:spPr>
          <a:xfrm>
            <a:off x="9328838" y="7862839"/>
            <a:ext cx="2520000" cy="1430875"/>
          </a:xfrm>
          <a:prstGeom prst="roundRect">
            <a:avLst/>
          </a:prstGeom>
        </p:spPr>
      </p:pic>
      <p:pic>
        <p:nvPicPr>
          <p:cNvPr id="22" name="Gambar 21">
            <a:extLst>
              <a:ext uri="{FF2B5EF4-FFF2-40B4-BE49-F238E27FC236}">
                <a16:creationId xmlns:a16="http://schemas.microsoft.com/office/drawing/2014/main" id="{0F14AD5D-CB36-058B-AB8B-EE5369D920A2}"/>
              </a:ext>
            </a:extLst>
          </p:cNvPr>
          <p:cNvPicPr>
            <a:picLocks noChangeAspect="1"/>
          </p:cNvPicPr>
          <p:nvPr/>
        </p:nvPicPr>
        <p:blipFill>
          <a:blip r:embed="rId7"/>
          <a:stretch>
            <a:fillRect/>
          </a:stretch>
        </p:blipFill>
        <p:spPr>
          <a:xfrm>
            <a:off x="6808838" y="2002034"/>
            <a:ext cx="5040000" cy="2863636"/>
          </a:xfrm>
          <a:prstGeom prst="roundRect">
            <a:avLst/>
          </a:prstGeom>
        </p:spPr>
      </p:pic>
    </p:spTree>
    <p:extLst>
      <p:ext uri="{BB962C8B-B14F-4D97-AF65-F5344CB8AC3E}">
        <p14:creationId xmlns:p14="http://schemas.microsoft.com/office/powerpoint/2010/main" val="35983066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Judul 1">
            <a:extLst>
              <a:ext uri="{FF2B5EF4-FFF2-40B4-BE49-F238E27FC236}">
                <a16:creationId xmlns:a16="http://schemas.microsoft.com/office/drawing/2014/main" id="{AC369743-15D1-1966-072E-7B0E5F3B0864}"/>
              </a:ext>
            </a:extLst>
          </p:cNvPr>
          <p:cNvSpPr>
            <a:spLocks noGrp="1"/>
          </p:cNvSpPr>
          <p:nvPr>
            <p:ph type="title"/>
          </p:nvPr>
        </p:nvSpPr>
        <p:spPr>
          <a:xfrm>
            <a:off x="1063258" y="530167"/>
            <a:ext cx="5677784" cy="1110912"/>
          </a:xfrm>
        </p:spPr>
        <p:txBody>
          <a:bodyPr>
            <a:normAutofit fontScale="90000"/>
          </a:bodyPr>
          <a:lstStyle/>
          <a:p>
            <a:pPr algn="ctr"/>
            <a:r>
              <a:rPr lang="id-ID" dirty="0">
                <a:latin typeface="Franklin Gothic Medium" panose="020B0603020102020204" pitchFamily="34" charset="0"/>
              </a:rPr>
              <a:t>CUSTOMER DASHBOARD</a:t>
            </a:r>
            <a:br>
              <a:rPr lang="id-ID" dirty="0">
                <a:latin typeface="Franklin Gothic Medium" panose="020B0603020102020204" pitchFamily="34" charset="0"/>
              </a:rPr>
            </a:br>
            <a:r>
              <a:rPr lang="id-ID" dirty="0">
                <a:latin typeface="Franklin Gothic Medium" panose="020B0603020102020204" pitchFamily="34" charset="0"/>
              </a:rPr>
              <a:t>CONTENT</a:t>
            </a:r>
          </a:p>
        </p:txBody>
      </p:sp>
      <p:sp>
        <p:nvSpPr>
          <p:cNvPr id="11" name="Tampungan Konten 2">
            <a:extLst>
              <a:ext uri="{FF2B5EF4-FFF2-40B4-BE49-F238E27FC236}">
                <a16:creationId xmlns:a16="http://schemas.microsoft.com/office/drawing/2014/main" id="{537CCC83-7904-D3FF-939D-217D33394951}"/>
              </a:ext>
            </a:extLst>
          </p:cNvPr>
          <p:cNvSpPr txBox="1">
            <a:spLocks/>
          </p:cNvSpPr>
          <p:nvPr/>
        </p:nvSpPr>
        <p:spPr>
          <a:xfrm>
            <a:off x="1061056" y="3111415"/>
            <a:ext cx="4931932" cy="2105506"/>
          </a:xfrm>
          <a:prstGeom prst="rect">
            <a:avLst/>
          </a:prstGeom>
        </p:spPr>
        <p:txBody>
          <a:bodyPr vert="horz" lIns="91440" tIns="45720" rIns="91440" bIns="45720" rtlCol="0">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just">
              <a:lnSpc>
                <a:spcPct val="110000"/>
              </a:lnSpc>
              <a:buFont typeface="Franklin Gothic Book" panose="020B0503020102020204" pitchFamily="34" charset="0"/>
              <a:buNone/>
            </a:pPr>
            <a:r>
              <a:rPr lang="en-US" sz="2200" dirty="0">
                <a:ea typeface="Calibri" panose="020F0502020204030204" pitchFamily="34" charset="0"/>
                <a:cs typeface="Cordia New" panose="020B0304020202020204" pitchFamily="34" charset="-34"/>
              </a:rPr>
              <a:t>This section shows the total orders, the increase/decrease in total orders compared to the previous year (YoY), and the monthly trend of total orders between the year selected by the user and the previous year.</a:t>
            </a:r>
            <a:endParaRPr lang="id-ID" sz="2200" dirty="0"/>
          </a:p>
        </p:txBody>
      </p:sp>
      <p:sp>
        <p:nvSpPr>
          <p:cNvPr id="12" name="Tampungan Konten 2">
            <a:extLst>
              <a:ext uri="{FF2B5EF4-FFF2-40B4-BE49-F238E27FC236}">
                <a16:creationId xmlns:a16="http://schemas.microsoft.com/office/drawing/2014/main" id="{1D19FA90-95C2-B713-CB22-ED40C298C908}"/>
              </a:ext>
            </a:extLst>
          </p:cNvPr>
          <p:cNvSpPr txBox="1">
            <a:spLocks/>
          </p:cNvSpPr>
          <p:nvPr/>
        </p:nvSpPr>
        <p:spPr>
          <a:xfrm>
            <a:off x="1061056" y="2212804"/>
            <a:ext cx="5504844" cy="89861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id-ID" sz="4300" dirty="0">
                <a:latin typeface="Franklin Gothic Medium" panose="020B0603020102020204" pitchFamily="34" charset="0"/>
              </a:rPr>
              <a:t>Total Order </a:t>
            </a:r>
            <a:r>
              <a:rPr lang="id-ID" sz="4300" dirty="0" err="1">
                <a:latin typeface="Franklin Gothic Medium" panose="020B0603020102020204" pitchFamily="34" charset="0"/>
              </a:rPr>
              <a:t>Section</a:t>
            </a:r>
            <a:endParaRPr lang="id-ID" sz="4300" dirty="0">
              <a:latin typeface="Franklin Gothic Medium" panose="020B0603020102020204" pitchFamily="34" charset="0"/>
            </a:endParaRPr>
          </a:p>
        </p:txBody>
      </p:sp>
      <p:sp>
        <p:nvSpPr>
          <p:cNvPr id="13" name="Persegi Panjang 12">
            <a:extLst>
              <a:ext uri="{FF2B5EF4-FFF2-40B4-BE49-F238E27FC236}">
                <a16:creationId xmlns:a16="http://schemas.microsoft.com/office/drawing/2014/main" id="{E4872FE8-5D5F-5E2C-51E3-9B1C3C4BB2B5}"/>
              </a:ext>
            </a:extLst>
          </p:cNvPr>
          <p:cNvSpPr/>
          <p:nvPr/>
        </p:nvSpPr>
        <p:spPr>
          <a:xfrm>
            <a:off x="1061056" y="2948404"/>
            <a:ext cx="5220000" cy="360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2" name="Gambar 1">
            <a:extLst>
              <a:ext uri="{FF2B5EF4-FFF2-40B4-BE49-F238E27FC236}">
                <a16:creationId xmlns:a16="http://schemas.microsoft.com/office/drawing/2014/main" id="{EFF87E04-967B-5524-EF24-C3F5A3915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432" y="530167"/>
            <a:ext cx="655968" cy="649600"/>
          </a:xfrm>
          <a:prstGeom prst="rect">
            <a:avLst/>
          </a:prstGeom>
        </p:spPr>
      </p:pic>
      <p:pic>
        <p:nvPicPr>
          <p:cNvPr id="4" name="Gambar 3">
            <a:extLst>
              <a:ext uri="{FF2B5EF4-FFF2-40B4-BE49-F238E27FC236}">
                <a16:creationId xmlns:a16="http://schemas.microsoft.com/office/drawing/2014/main" id="{1A8C5FDD-744B-D6D7-D678-9624C0AD49C4}"/>
              </a:ext>
            </a:extLst>
          </p:cNvPr>
          <p:cNvPicPr>
            <a:picLocks noChangeAspect="1"/>
          </p:cNvPicPr>
          <p:nvPr/>
        </p:nvPicPr>
        <p:blipFill>
          <a:blip r:embed="rId3"/>
          <a:stretch>
            <a:fillRect/>
          </a:stretch>
        </p:blipFill>
        <p:spPr>
          <a:xfrm>
            <a:off x="9328838" y="11201030"/>
            <a:ext cx="2520000" cy="1652539"/>
          </a:xfrm>
          <a:prstGeom prst="roundRect">
            <a:avLst/>
          </a:prstGeom>
        </p:spPr>
      </p:pic>
      <p:pic>
        <p:nvPicPr>
          <p:cNvPr id="16" name="Gambar 15">
            <a:extLst>
              <a:ext uri="{FF2B5EF4-FFF2-40B4-BE49-F238E27FC236}">
                <a16:creationId xmlns:a16="http://schemas.microsoft.com/office/drawing/2014/main" id="{BB666880-0DA5-7E2A-6A70-BA84ABCED072}"/>
              </a:ext>
            </a:extLst>
          </p:cNvPr>
          <p:cNvPicPr>
            <a:picLocks noChangeAspect="1"/>
          </p:cNvPicPr>
          <p:nvPr/>
        </p:nvPicPr>
        <p:blipFill>
          <a:blip r:embed="rId4"/>
          <a:stretch>
            <a:fillRect/>
          </a:stretch>
        </p:blipFill>
        <p:spPr>
          <a:xfrm>
            <a:off x="9328838" y="7752280"/>
            <a:ext cx="2520000" cy="1657643"/>
          </a:xfrm>
          <a:prstGeom prst="roundRect">
            <a:avLst/>
          </a:prstGeom>
        </p:spPr>
      </p:pic>
      <p:pic>
        <p:nvPicPr>
          <p:cNvPr id="18" name="Gambar 17">
            <a:extLst>
              <a:ext uri="{FF2B5EF4-FFF2-40B4-BE49-F238E27FC236}">
                <a16:creationId xmlns:a16="http://schemas.microsoft.com/office/drawing/2014/main" id="{2A57749F-5BBA-9DC4-7F51-B761ED27BDC4}"/>
              </a:ext>
            </a:extLst>
          </p:cNvPr>
          <p:cNvPicPr>
            <a:picLocks noChangeAspect="1"/>
          </p:cNvPicPr>
          <p:nvPr/>
        </p:nvPicPr>
        <p:blipFill>
          <a:blip r:embed="rId5"/>
          <a:stretch>
            <a:fillRect/>
          </a:stretch>
        </p:blipFill>
        <p:spPr>
          <a:xfrm>
            <a:off x="6808838" y="2009379"/>
            <a:ext cx="5040000" cy="3321378"/>
          </a:xfrm>
          <a:prstGeom prst="roundRect">
            <a:avLst/>
          </a:prstGeom>
        </p:spPr>
      </p:pic>
      <p:pic>
        <p:nvPicPr>
          <p:cNvPr id="20" name="Gambar 19">
            <a:extLst>
              <a:ext uri="{FF2B5EF4-FFF2-40B4-BE49-F238E27FC236}">
                <a16:creationId xmlns:a16="http://schemas.microsoft.com/office/drawing/2014/main" id="{6929624A-2B4F-BD14-AF40-A777DB408EAA}"/>
              </a:ext>
            </a:extLst>
          </p:cNvPr>
          <p:cNvPicPr>
            <a:picLocks noChangeAspect="1"/>
          </p:cNvPicPr>
          <p:nvPr/>
        </p:nvPicPr>
        <p:blipFill>
          <a:blip r:embed="rId6"/>
          <a:stretch>
            <a:fillRect/>
          </a:stretch>
        </p:blipFill>
        <p:spPr>
          <a:xfrm>
            <a:off x="9328838" y="9590039"/>
            <a:ext cx="2520000" cy="1430875"/>
          </a:xfrm>
          <a:prstGeom prst="roundRect">
            <a:avLst/>
          </a:prstGeom>
        </p:spPr>
      </p:pic>
      <p:pic>
        <p:nvPicPr>
          <p:cNvPr id="22" name="Gambar 21">
            <a:extLst>
              <a:ext uri="{FF2B5EF4-FFF2-40B4-BE49-F238E27FC236}">
                <a16:creationId xmlns:a16="http://schemas.microsoft.com/office/drawing/2014/main" id="{0F14AD5D-CB36-058B-AB8B-EE5369D920A2}"/>
              </a:ext>
            </a:extLst>
          </p:cNvPr>
          <p:cNvPicPr>
            <a:picLocks noChangeAspect="1"/>
          </p:cNvPicPr>
          <p:nvPr/>
        </p:nvPicPr>
        <p:blipFill>
          <a:blip r:embed="rId7"/>
          <a:stretch>
            <a:fillRect/>
          </a:stretch>
        </p:blipFill>
        <p:spPr>
          <a:xfrm>
            <a:off x="9328838" y="6140346"/>
            <a:ext cx="2520000" cy="1431818"/>
          </a:xfrm>
          <a:prstGeom prst="roundRect">
            <a:avLst/>
          </a:prstGeom>
        </p:spPr>
      </p:pic>
    </p:spTree>
    <p:extLst>
      <p:ext uri="{BB962C8B-B14F-4D97-AF65-F5344CB8AC3E}">
        <p14:creationId xmlns:p14="http://schemas.microsoft.com/office/powerpoint/2010/main" val="3739058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4B96840-973D-EDF6-A58B-00A896A7A810}"/>
              </a:ext>
            </a:extLst>
          </p:cNvPr>
          <p:cNvSpPr>
            <a:spLocks noGrp="1"/>
          </p:cNvSpPr>
          <p:nvPr>
            <p:ph type="ctrTitle"/>
          </p:nvPr>
        </p:nvSpPr>
        <p:spPr>
          <a:xfrm>
            <a:off x="1805400" y="1975104"/>
            <a:ext cx="8600472" cy="2907792"/>
          </a:xfrm>
        </p:spPr>
        <p:txBody>
          <a:bodyPr anchor="ctr"/>
          <a:lstStyle/>
          <a:p>
            <a:r>
              <a:rPr lang="id-ID" dirty="0" err="1">
                <a:latin typeface="Franklin Gothic Demi Cond" panose="020B0706030402020204" pitchFamily="34" charset="0"/>
              </a:rPr>
              <a:t>Thank</a:t>
            </a:r>
            <a:r>
              <a:rPr lang="id-ID" dirty="0">
                <a:latin typeface="Franklin Gothic Demi Cond" panose="020B0706030402020204" pitchFamily="34" charset="0"/>
              </a:rPr>
              <a:t> </a:t>
            </a:r>
            <a:r>
              <a:rPr lang="id-ID" dirty="0" err="1">
                <a:latin typeface="Franklin Gothic Demi Cond" panose="020B0706030402020204" pitchFamily="34" charset="0"/>
              </a:rPr>
              <a:t>you</a:t>
            </a:r>
            <a:endParaRPr lang="id-ID" dirty="0">
              <a:latin typeface="Franklin Gothic Demi Cond" panose="020B0706030402020204" pitchFamily="34" charset="0"/>
            </a:endParaRPr>
          </a:p>
        </p:txBody>
      </p:sp>
    </p:spTree>
    <p:extLst>
      <p:ext uri="{BB962C8B-B14F-4D97-AF65-F5344CB8AC3E}">
        <p14:creationId xmlns:p14="http://schemas.microsoft.com/office/powerpoint/2010/main" val="8889594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Pangkas">
  <a:themeElements>
    <a:clrScheme name="Kustom 5">
      <a:dk1>
        <a:sysClr val="windowText" lastClr="000000"/>
      </a:dk1>
      <a:lt1>
        <a:sysClr val="window" lastClr="FFFFFF"/>
      </a:lt1>
      <a:dk2>
        <a:srgbClr val="F5F5F5"/>
      </a:dk2>
      <a:lt2>
        <a:srgbClr val="212121"/>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Pangkas">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ngkas">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TM10001105[[fn=Pangkas]]</Template>
  <TotalTime>236</TotalTime>
  <Words>573</Words>
  <Application>Microsoft Office PowerPoint</Application>
  <PresentationFormat>Layar Lebar</PresentationFormat>
  <Paragraphs>50</Paragraphs>
  <Slides>17</Slides>
  <Notes>0</Notes>
  <HiddenSlides>0</HiddenSlides>
  <MMClips>0</MMClips>
  <ScaleCrop>false</ScaleCrop>
  <HeadingPairs>
    <vt:vector size="6" baseType="variant">
      <vt:variant>
        <vt:lpstr>Font Dipakai</vt:lpstr>
      </vt:variant>
      <vt:variant>
        <vt:i4>4</vt:i4>
      </vt:variant>
      <vt:variant>
        <vt:lpstr>Tema</vt:lpstr>
      </vt:variant>
      <vt:variant>
        <vt:i4>1</vt:i4>
      </vt:variant>
      <vt:variant>
        <vt:lpstr>Judul Slide</vt:lpstr>
      </vt:variant>
      <vt:variant>
        <vt:i4>17</vt:i4>
      </vt:variant>
    </vt:vector>
  </HeadingPairs>
  <TitlesOfParts>
    <vt:vector size="22" baseType="lpstr">
      <vt:lpstr>Calibri</vt:lpstr>
      <vt:lpstr>Franklin Gothic Book</vt:lpstr>
      <vt:lpstr>Franklin Gothic Demi Cond</vt:lpstr>
      <vt:lpstr>Franklin Gothic Medium</vt:lpstr>
      <vt:lpstr>Pangkas</vt:lpstr>
      <vt:lpstr>US superstore sales dashboard</vt:lpstr>
      <vt:lpstr>Presentasi PowerPoint</vt:lpstr>
      <vt:lpstr>DATA NAVIGATION BUTTON</vt:lpstr>
      <vt:lpstr>DATA NAVIGATION BUTTON</vt:lpstr>
      <vt:lpstr>SALES DASHBOARD CONTENT</vt:lpstr>
      <vt:lpstr>SALES DASHBOARD CONTENT</vt:lpstr>
      <vt:lpstr>SALES DASHBOARD CONTENT</vt:lpstr>
      <vt:lpstr>SALES DASHBOARD CONTENT</vt:lpstr>
      <vt:lpstr>SALES DASHBOARD CONTENT</vt:lpstr>
      <vt:lpstr>SALES DASHBOARD CONTENT</vt:lpstr>
      <vt:lpstr>CUSTOMER DASHBOARD CONTENT</vt:lpstr>
      <vt:lpstr>CUSTOMER DASHBOARD CONTENT</vt:lpstr>
      <vt:lpstr>CUSTOMER DASHBOARD CONTENT</vt:lpstr>
      <vt:lpstr>CUSTOMER DASHBOARD CONTENT</vt:lpstr>
      <vt:lpstr>CUSTOMER DASHBOARD CONTENT</vt:lpstr>
      <vt:lpstr>CUSTOMER DASHBOARD CONTENT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 Wiriadhi</dc:creator>
  <cp:lastModifiedBy>Rama Wiriadhi</cp:lastModifiedBy>
  <cp:revision>5</cp:revision>
  <dcterms:created xsi:type="dcterms:W3CDTF">2024-10-23T06:18:22Z</dcterms:created>
  <dcterms:modified xsi:type="dcterms:W3CDTF">2024-10-24T05:44:42Z</dcterms:modified>
</cp:coreProperties>
</file>